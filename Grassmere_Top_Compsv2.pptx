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3A5566"/>
                </a:solidFill>
              </a:defRPr>
            </a:pPr>
            <a:r>
              <a:t>BZA Cases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BZA Cases</c:v>
                </c:pt>
              </c:strCache>
            </c:strRef>
          </c:tx>
          <c:spPr>
            <a:solidFill>
              <a:srgbClr val="3A5566"/>
            </a:solidFill>
          </c:spPr>
          <c:invertIfNegative val="1"/>
          <c:cat>
            <c:strRef>
              <c:f>Sheet1!$A$2:$A$14</c:f>
              <c:strCache>
                <c:ptCount val="13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9</c:v>
                </c:pt>
                <c:pt idx="2">
                  <c:v>16</c:v>
                </c:pt>
                <c:pt idx="3">
                  <c:v>9</c:v>
                </c:pt>
                <c:pt idx="4">
                  <c:v>16</c:v>
                </c:pt>
                <c:pt idx="5">
                  <c:v>14</c:v>
                </c:pt>
                <c:pt idx="6">
                  <c:v>15</c:v>
                </c:pt>
                <c:pt idx="7">
                  <c:v>17</c:v>
                </c:pt>
                <c:pt idx="8">
                  <c:v>15</c:v>
                </c:pt>
                <c:pt idx="9">
                  <c:v>14</c:v>
                </c:pt>
                <c:pt idx="10">
                  <c:v>10</c:v>
                </c:pt>
                <c:pt idx="11">
                  <c:v>6</c:v>
                </c:pt>
                <c:pt idx="12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E20-824B-A57E-678D74A62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3A5566"/>
                </a:solidFill>
              </a:defRPr>
            </a:pPr>
            <a:r>
              <a:t>Office Permits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Permits Issued</c:v>
                </c:pt>
              </c:strCache>
            </c:strRef>
          </c:tx>
          <c:spPr>
            <a:solidFill>
              <a:srgbClr val="1565C0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166</c:v>
                </c:pt>
                <c:pt idx="1">
                  <c:v>502</c:v>
                </c:pt>
                <c:pt idx="2">
                  <c:v>400</c:v>
                </c:pt>
                <c:pt idx="3">
                  <c:v>307</c:v>
                </c:pt>
                <c:pt idx="4">
                  <c:v>406</c:v>
                </c:pt>
                <c:pt idx="5">
                  <c:v>353</c:v>
                </c:pt>
                <c:pt idx="6">
                  <c:v>379</c:v>
                </c:pt>
                <c:pt idx="7">
                  <c:v>391</c:v>
                </c:pt>
                <c:pt idx="8">
                  <c:v>450</c:v>
                </c:pt>
                <c:pt idx="9">
                  <c:v>539</c:v>
                </c:pt>
                <c:pt idx="10">
                  <c:v>508</c:v>
                </c:pt>
                <c:pt idx="11">
                  <c:v>471</c:v>
                </c:pt>
                <c:pt idx="12">
                  <c:v>489</c:v>
                </c:pt>
                <c:pt idx="13">
                  <c:v>494</c:v>
                </c:pt>
                <c:pt idx="14">
                  <c:v>429</c:v>
                </c:pt>
                <c:pt idx="15">
                  <c:v>381</c:v>
                </c:pt>
                <c:pt idx="16">
                  <c:v>506</c:v>
                </c:pt>
                <c:pt idx="17">
                  <c:v>369</c:v>
                </c:pt>
                <c:pt idx="18">
                  <c:v>361</c:v>
                </c:pt>
                <c:pt idx="19">
                  <c:v>366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BBD-E742-9647-FB437D865C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3A5566"/>
                </a:solidFill>
              </a:defRPr>
            </a:pPr>
            <a:r>
              <a:t>Annual Construction Value ($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Construction Value ($M)</c:v>
                </c:pt>
              </c:strCache>
            </c:strRef>
          </c:tx>
          <c:spPr>
            <a:solidFill>
              <a:srgbClr val="2E7D32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28.60521696</c:v>
                </c:pt>
                <c:pt idx="1">
                  <c:v>186.75023897999998</c:v>
                </c:pt>
                <c:pt idx="2">
                  <c:v>30.16160137</c:v>
                </c:pt>
                <c:pt idx="3">
                  <c:v>27.323724819999999</c:v>
                </c:pt>
                <c:pt idx="4">
                  <c:v>42.904923719999999</c:v>
                </c:pt>
                <c:pt idx="5">
                  <c:v>126.18557049</c:v>
                </c:pt>
                <c:pt idx="6">
                  <c:v>86.785434370000004</c:v>
                </c:pt>
                <c:pt idx="7">
                  <c:v>164.50646119999999</c:v>
                </c:pt>
                <c:pt idx="8">
                  <c:v>197.76109091000001</c:v>
                </c:pt>
                <c:pt idx="9">
                  <c:v>347.60499227999998</c:v>
                </c:pt>
                <c:pt idx="10">
                  <c:v>341.49302592000004</c:v>
                </c:pt>
                <c:pt idx="11">
                  <c:v>410.41803823999999</c:v>
                </c:pt>
                <c:pt idx="12">
                  <c:v>531.06917925999994</c:v>
                </c:pt>
                <c:pt idx="13">
                  <c:v>445.02231673</c:v>
                </c:pt>
                <c:pt idx="14">
                  <c:v>474.50201591000001</c:v>
                </c:pt>
                <c:pt idx="15">
                  <c:v>185.26705003999999</c:v>
                </c:pt>
                <c:pt idx="16">
                  <c:v>597.25151862999996</c:v>
                </c:pt>
                <c:pt idx="17">
                  <c:v>332.03112557999998</c:v>
                </c:pt>
                <c:pt idx="18">
                  <c:v>233.15263121000001</c:v>
                </c:pt>
                <c:pt idx="19">
                  <c:v>380.02140068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90C-4B42-8F83-37347F732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7" Type="http://schemas.openxmlformats.org/officeDocument/2006/relationships/image" Target="../media/image41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648 Grassmere Park — Comparable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B279"/>
                </a:solidFill>
              </a:defRPr>
            </a:pPr>
            <a:r>
              <a:t>Subject Property  |  Nashville, Davidson County, TN</a:t>
            </a:r>
          </a:p>
        </p:txBody>
      </p:sp>
      <p:pic>
        <p:nvPicPr>
          <p:cNvPr id="5" name="Picture 4" descr="rank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pic>
        <p:nvPicPr>
          <p:cNvPr id="6" name="Picture 5" descr="rank0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20040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$25.9M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Sale Price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87000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$115.69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Per SF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0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23.49 ac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Lot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53159" y="13716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1985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Year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648 Grassmere Park, Nashville, TN 37211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36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Sale Price: $25,938,000  |  Price/SF: $115.69  |  Sold: 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84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Year Built: 1985  |  Acreage: 23.49 ac  |  Stories: 3  |  Zoning: IWD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315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5566"/>
                </a:solidFill>
              </a:defRPr>
            </a:pPr>
            <a:r>
              <a:t>Land Use: Office Building (3+ Stories)  |  Comp Score: 100/100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7432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3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Stories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27432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IWD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Zoning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0" y="2743200"/>
            <a:ext cx="1645920" cy="118872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A5566"/>
                </a:solidFill>
              </a:defRPr>
            </a:pPr>
            <a:r>
              <a:t>100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Comp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Comparable Sales Map — Davidson County, Nashville, 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B279"/>
                </a:solidFill>
              </a:defRPr>
            </a:pPr>
            <a:r>
              <a:t>648 Grassmere Park  |  20 Comparable Properties  |  Interactive Map: nataliebaldacci.github.io/RE_Final_Case</a:t>
            </a:r>
          </a:p>
        </p:txBody>
      </p:sp>
      <p:pic>
        <p:nvPicPr>
          <p:cNvPr id="5" name="Picture 4" descr="ma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1 — Best Comparables — #1, #2,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90-95/100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636 Grassmere 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95/100</a:t>
            </a:r>
          </a:p>
        </p:txBody>
      </p:sp>
      <p:pic>
        <p:nvPicPr>
          <p:cNvPr id="9" name="Picture 8" descr="rank1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$15,000,000  (2022)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$236.32/SF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6.02 ac  |  1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63,474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200 Athens 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93/100</a:t>
            </a:r>
          </a:p>
        </p:txBody>
      </p:sp>
      <p:pic>
        <p:nvPicPr>
          <p:cNvPr id="19" name="Picture 18" descr="rank2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2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$36,000,000 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$146.25/SF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8.70 ac  |  8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210 Athens 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90/100</a:t>
            </a:r>
          </a:p>
        </p:txBody>
      </p:sp>
      <p:pic>
        <p:nvPicPr>
          <p:cNvPr id="29" name="Picture 28" descr="rank3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3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$32,250,000  (2022)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$203.39/SF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10.01 ac  |  5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MUG-NS  |  Office (3+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1 — Best Comparables — #4, #5, 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85-89/100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227 French Landing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89/100</a:t>
            </a:r>
          </a:p>
        </p:txBody>
      </p:sp>
      <p:pic>
        <p:nvPicPr>
          <p:cNvPr id="9" name="Picture 8" descr="rank4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4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$22,350,000 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$201.50/SF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4.93 ac  |  5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501 Great Circle 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88/100</a:t>
            </a:r>
          </a:p>
        </p:txBody>
      </p:sp>
      <p:pic>
        <p:nvPicPr>
          <p:cNvPr id="19" name="Picture 18" descr="rank5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5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$18,000,000 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$143.08/SF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6.22 ac  |  3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71,916 SF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215 Cumberland Bnd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85/100</a:t>
            </a:r>
          </a:p>
        </p:txBody>
      </p:sp>
      <p:pic>
        <p:nvPicPr>
          <p:cNvPr id="29" name="Picture 28" descr="rank6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6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$10,850,000  (2020)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$107.29/SF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1980  |  8.20 ac  |  2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2 — Good Comparables — #7, #8, 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80-82/100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545 Marriott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82/100</a:t>
            </a:r>
          </a:p>
        </p:txBody>
      </p:sp>
      <p:pic>
        <p:nvPicPr>
          <p:cNvPr id="9" name="Picture 8" descr="rank7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7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$85,500,000  (2019)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$324.59/SF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1986  |  8.60 ac  |  8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ORI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621 Mainstream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80/100</a:t>
            </a:r>
          </a:p>
        </p:txBody>
      </p:sp>
      <p:pic>
        <p:nvPicPr>
          <p:cNvPr id="19" name="Picture 18" descr="rank8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8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$16,150,000 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$305.19/SF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7.18 ac  |  1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52,917 SF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601 Mainstream 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80/100</a:t>
            </a:r>
          </a:p>
        </p:txBody>
      </p:sp>
      <p:pic>
        <p:nvPicPr>
          <p:cNvPr id="29" name="Picture 28" descr="rank9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9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$13,100,000 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$247.56/SF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7.18 ac  |  1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IWD  |  Office (1-2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52,917 SF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2 — Good Comparables — #10, #11, 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76-78/100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616 Marriott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78/100</a:t>
            </a:r>
          </a:p>
        </p:txBody>
      </p:sp>
      <p:pic>
        <p:nvPicPr>
          <p:cNvPr id="9" name="Picture 8" descr="rank1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0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$13,030,000 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$155.66/SF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3.74 ac  |  6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ORI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83,708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25 Century Blvd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77/100</a:t>
            </a:r>
          </a:p>
        </p:txBody>
      </p:sp>
      <p:pic>
        <p:nvPicPr>
          <p:cNvPr id="19" name="Picture 18" descr="rank11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11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$30,000,000 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$228.93/SF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1986  |  6.85 ac  |  6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ORI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 Burton Hills Blvd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76/100</a:t>
            </a:r>
          </a:p>
        </p:txBody>
      </p:sp>
      <p:pic>
        <p:nvPicPr>
          <p:cNvPr id="29" name="Picture 28" descr="rank12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12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$12,000,000 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$98.39/SF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7.07 ac  |  3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SP  |  Office (3+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2 — Good Comparables — 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75-75/100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104 Woodmont Blvd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75/100</a:t>
            </a:r>
          </a:p>
        </p:txBody>
      </p:sp>
      <p:pic>
        <p:nvPicPr>
          <p:cNvPr id="9" name="Picture 8" descr="rank13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0911535" cy="1920240"/>
          </a:xfrm>
          <a:prstGeom prst="rect">
            <a:avLst/>
          </a:prstGeom>
        </p:spPr>
      </p:pic>
      <p:pic>
        <p:nvPicPr>
          <p:cNvPr id="10" name="Picture 9" descr="rank13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10911535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$50,970,857 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$140.77/SF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2.40 ac  |  8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OR20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3 — Supporting Comparables — #14, #15, 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68-72/100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1321 Murfreesboro Pike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72/100</a:t>
            </a:r>
          </a:p>
        </p:txBody>
      </p:sp>
      <p:pic>
        <p:nvPicPr>
          <p:cNvPr id="9" name="Picture 8" descr="rank14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4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$18,500,000  (2021)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$97.45/SF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1987  |  5.30 ac  |  8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CL  |  Office (3+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5880 Nolensville Pike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70/100</a:t>
            </a:r>
          </a:p>
        </p:txBody>
      </p:sp>
      <p:pic>
        <p:nvPicPr>
          <p:cNvPr id="19" name="Picture 18" descr="rank15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15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$17,000,000  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$184.04/SF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1989  |  13.80 ac  |  2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R10  |  Office (1-2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92,370 SF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490 Metroplex 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68/100</a:t>
            </a:r>
          </a:p>
        </p:txBody>
      </p:sp>
      <p:pic>
        <p:nvPicPr>
          <p:cNvPr id="29" name="Picture 28" descr="rank16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16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$11,000,000  (2024)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$129.99/SF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1986  |  4.68 ac  |  2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CS  |  Office (1-2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84,620 SF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3 — Supporting Comparables — #17, #18, 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60-65/100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750 Old Hickory Blvd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65/100</a:t>
            </a:r>
          </a:p>
        </p:txBody>
      </p:sp>
      <p:pic>
        <p:nvPicPr>
          <p:cNvPr id="9" name="Picture 8" descr="rank17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393338" cy="1920240"/>
          </a:xfrm>
          <a:prstGeom prst="rect">
            <a:avLst/>
          </a:prstGeom>
        </p:spPr>
      </p:pic>
      <p:pic>
        <p:nvPicPr>
          <p:cNvPr id="10" name="Picture 9" descr="rank17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3393338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$88,300,000 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$102.42/SF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1983  |  14.50 ac  |  2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OL  |  Office (1-2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99,550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938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100 Centerview 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938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63/100</a:t>
            </a:r>
          </a:p>
        </p:txBody>
      </p:sp>
      <p:pic>
        <p:nvPicPr>
          <p:cNvPr id="19" name="Picture 18" descr="rank18_ph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98" y="1600200"/>
            <a:ext cx="3393338" cy="1920240"/>
          </a:xfrm>
          <a:prstGeom prst="rect">
            <a:avLst/>
          </a:prstGeom>
        </p:spPr>
      </p:pic>
      <p:pic>
        <p:nvPicPr>
          <p:cNvPr id="20" name="Picture 19" descr="rank18_ske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98" y="3611879"/>
            <a:ext cx="3393338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6298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$19,500,000  (2025)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6298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$78.45/SF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6298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1984  |  25.36 ac  |  3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298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OL  |  Office (3+ Stories)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6298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4036" y="1051560"/>
            <a:ext cx="30275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1000 Northchase 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036" y="1307592"/>
            <a:ext cx="3027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60/100</a:t>
            </a:r>
          </a:p>
        </p:txBody>
      </p:sp>
      <p:pic>
        <p:nvPicPr>
          <p:cNvPr id="29" name="Picture 28" descr="rank19_pho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1600200"/>
            <a:ext cx="3393338" cy="1920240"/>
          </a:xfrm>
          <a:prstGeom prst="rect">
            <a:avLst/>
          </a:prstGeom>
        </p:spPr>
      </p:pic>
      <p:pic>
        <p:nvPicPr>
          <p:cNvPr id="30" name="Picture 29" descr="rank19_sket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5396" y="3611879"/>
            <a:ext cx="3393338" cy="146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75396" y="52120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$8,350,000  (2026)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5396" y="54406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$152.30/SF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5396" y="56692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1988  |  3.18 ac  |  3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5396" y="58978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6ZZ  |  Office (3+ Stories)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5396" y="6126479"/>
            <a:ext cx="339333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54,826 SF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Tier 3 — Supporting Comparables — 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B279"/>
                </a:solidFill>
              </a:defRPr>
            </a:pPr>
            <a:r>
              <a:t>Scores: 58-58/100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566"/>
                </a:solidFill>
              </a:defRPr>
            </a:pPr>
            <a:r>
              <a:t>3343 Perimeter Hill 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105457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06F6C"/>
                </a:solidFill>
              </a:defRPr>
            </a:pPr>
            <a:r>
              <a:t>Nashville, TN  |  Score: 58/100</a:t>
            </a:r>
          </a:p>
        </p:txBody>
      </p:sp>
      <p:pic>
        <p:nvPicPr>
          <p:cNvPr id="9" name="Picture 8" descr="rank2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0911535" cy="1920240"/>
          </a:xfrm>
          <a:prstGeom prst="rect">
            <a:avLst/>
          </a:prstGeom>
        </p:spPr>
      </p:pic>
      <p:pic>
        <p:nvPicPr>
          <p:cNvPr id="10" name="Picture 9" descr="rank20_ske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79"/>
            <a:ext cx="10911535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2120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3A5566"/>
                </a:solidFill>
              </a:defRPr>
            </a:pPr>
            <a:r>
              <a:t>$5,254,600 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Price/SF: $71.64/SF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Built 1985  |  3.58 ac  |  3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978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Zoning: CS  |  Office (1-2 Stories)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79"/>
            <a:ext cx="109115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5566"/>
                </a:solidFill>
              </a:defRPr>
            </a:pPr>
            <a:r>
              <a:t>Building: 73,352 SF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55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Comparable 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B279"/>
                </a:solidFill>
              </a:defRPr>
            </a:pPr>
            <a:r>
              <a:t>648 Grassmere Park  |  20 Comparable Properties  |  Davidson County, 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Price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Avg $/SF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B279"/>
                </a:solidFill>
              </a:defRPr>
            </a:pPr>
            <a:r>
              <a:t>Score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11680"/>
            <a:ext cx="9601200" cy="27432"/>
          </a:xfrm>
          <a:prstGeom prst="rect">
            <a:avLst/>
          </a:prstGeom>
          <a:solidFill>
            <a:srgbClr val="CBB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$25,938,000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$115.69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100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2880360"/>
            <a:ext cx="182880" cy="1828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1 —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$10.9M - $36.0M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$107 - $236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85-95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3383279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32918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2 — 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918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918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$12.0M - $85.5M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918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$98 - $325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91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75-82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3886199"/>
            <a:ext cx="182880" cy="18288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3794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Tier 3 — Supporting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7947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$5.3M - $88.3M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$72 - $184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58-72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Board of Zoning Appeals — Case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Davidson County, Nashville, TN  |  325 Total Cases (2006-2018)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325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Total BZA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223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Expired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70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706F6C"/>
                </a:solidFill>
              </a:defRPr>
            </a:pPr>
            <a:r>
              <a:t>24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Withdrawn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051560"/>
            <a:ext cx="18288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Approved to Pay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1051560"/>
            <a:ext cx="137160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565C0"/>
                </a:solidFill>
              </a:defRPr>
            </a:pPr>
            <a:r>
              <a:t>1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Granted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237744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Top Case Subtypes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Case Subtype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54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Religious Institution,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154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56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Day Care Home, Single F...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456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581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Zoning Appeal...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7581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059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Kennel / Stable, Kennel...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0599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61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Day Care Center (Up To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361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663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Master Permit Applicati...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46634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965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Religious Institution, 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965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2669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A5566"/>
                </a:solidFill>
              </a:defRPr>
            </a:pPr>
            <a:r>
              <a:t>Zoning Board Appeal / Multifamily, Condominiu...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52669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A5566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843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Status Breakdown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2087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EXPIRED: 223 (69%)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648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Done: 70 (22%)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720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Withdrawn: 24 (7%)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9768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OK to Pay Permit Fee: 5 (2%)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72329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Cancelled: 1 (0%)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74889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Payment was refunded/permit cancelled: 1 (0%)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77449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GRANTED: 1 (0%)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Office Building Permit History — Davidson County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General Office, Professional Services  |  8,291 Total Permits (2006-2025)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8,291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Total Permits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$5.17B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Total Const.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3A5566"/>
                </a:solidFill>
              </a:defRPr>
            </a:pPr>
            <a:r>
              <a:t>$894K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Avg Const.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565C0"/>
                </a:solidFill>
              </a:defRPr>
            </a:pPr>
            <a:r>
              <a:t>6,475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Completed (78%)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051560"/>
            <a:ext cx="2103120" cy="109728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65100"/>
                </a:solidFill>
              </a:defRPr>
            </a:pPr>
            <a:r>
              <a:t>1,447</a:t>
            </a:r>
          </a:p>
          <a:p>
            <a:pPr algn="ctr">
              <a:defRPr sz="1000">
                <a:solidFill>
                  <a:srgbClr val="706F6C"/>
                </a:solidFill>
              </a:defRPr>
            </a:pPr>
            <a:r>
              <a:t>Expired (17%)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237744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Permit Type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6F6C"/>
                </a:solidFill>
              </a:defRPr>
            </a:pPr>
            <a:r>
              <a:t>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546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Rehab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3154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6,001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564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Tenant Finish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3456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955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37581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394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599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Use &amp; Occupancy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4059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6168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Addition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43616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221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Commercial Rehab Storm Damage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46634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651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49651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2669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A5566"/>
                </a:solidFill>
              </a:defRPr>
            </a:pPr>
            <a:r>
              <a:t>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5266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A5566"/>
                </a:solidFill>
              </a:defRPr>
            </a:pPr>
            <a: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843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566"/>
                </a:solidFill>
              </a:defRPr>
            </a:pPr>
            <a:r>
              <a:t>Key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2087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Peak activity: 2015 (539 permits), 2016 (508)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830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Highest construction value: 2022 ($597M)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7574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Rehab permits dominate (72% of all permits)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70317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New construction: 394 permits (5% of total)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73060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A5566"/>
                </a:solidFill>
              </a:defRPr>
            </a:pPr>
            <a:r>
              <a:t>  Consistent ~400-500 permits/year since 2010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A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Office Construction Value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B279"/>
                </a:solidFill>
              </a:defRPr>
            </a:pPr>
            <a:r>
              <a:t>Total Construction Value by Year  |  Davidson County, Nashville, TN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5566"/>
                </a:solidFill>
              </a:defRPr>
            </a:pPr>
            <a:r>
              <a:t>Construction Value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$187M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2007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Early boom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$348M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2015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Post-recession surge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$410M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2017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Peak pre-COVID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$531M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2018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Record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$475M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2020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Resilience through COVID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5486400"/>
            <a:ext cx="1737360" cy="1005840"/>
          </a:xfrm>
          <a:prstGeom prst="rect">
            <a:avLst/>
          </a:prstGeom>
          <a:solidFill>
            <a:srgbClr val="F2F0ED"/>
          </a:solidFill>
          <a:ln>
            <a:solidFill>
              <a:srgbClr val="E2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$597M</a:t>
            </a:r>
          </a:p>
          <a:p>
            <a:pPr algn="ctr">
              <a:defRPr sz="1200" b="1">
                <a:solidFill>
                  <a:srgbClr val="3A5566"/>
                </a:solidFill>
              </a:defRPr>
            </a:pPr>
            <a:r>
              <a:t>2022</a:t>
            </a:r>
          </a:p>
          <a:p>
            <a:pPr algn="ctr">
              <a:defRPr sz="800">
                <a:solidFill>
                  <a:srgbClr val="706F6C"/>
                </a:solidFill>
              </a:defRPr>
            </a:pPr>
            <a:r>
              <a:t>All-time 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1643</Words>
  <Application>Microsoft Macintosh PowerPoint</Application>
  <PresentationFormat>Widescreen</PresentationFormat>
  <Paragraphs>327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Natalie Baldacci</cp:lastModifiedBy>
  <cp:revision>1</cp:revision>
  <dcterms:created xsi:type="dcterms:W3CDTF">2013-01-27T09:14:16Z</dcterms:created>
  <dcterms:modified xsi:type="dcterms:W3CDTF">2026-02-18T00:51:38Z</dcterms:modified>
  <cp:category/>
</cp:coreProperties>
</file>
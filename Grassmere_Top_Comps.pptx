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648 Grassmere Park — Comparable Sales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B279"/>
                </a:solidFill>
              </a:defRPr>
            </a:pPr>
            <a:r>
              <a:t>Subject Property  |  Nashville, Davidson County, TN</a:t>
            </a:r>
          </a:p>
        </p:txBody>
      </p:sp>
      <p:pic>
        <p:nvPicPr>
          <p:cNvPr id="5" name="Picture 4" descr="rank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2743200"/>
          </a:xfrm>
          <a:prstGeom prst="rect">
            <a:avLst/>
          </a:prstGeom>
        </p:spPr>
      </p:pic>
      <p:pic>
        <p:nvPicPr>
          <p:cNvPr id="6" name="Picture 5" descr="rank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2004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0392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$25.9M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Sale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$115.69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Per SF</a:t>
            </a:r>
          </a:p>
        </p:txBody>
      </p:sp>
      <p:sp>
        <p:nvSpPr>
          <p:cNvPr id="9" name="Rectangle 8"/>
          <p:cNvSpPr/>
          <p:nvPr/>
        </p:nvSpPr>
        <p:spPr>
          <a:xfrm>
            <a:off x="1207008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23.49 ac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Lot 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3159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1985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Year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648 Grassmere Park, Nashville, TN 37211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Sale Price: $25,938,000  |  Price/SF: $115.69  |  Sold: 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84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Year Built: 1985  |  Acreage: 23.49 ac  |  Stories: 3  |  Zoning: IWD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Land Use: Office Building (3+ Stories)  |  Comp Score: 100/100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Stories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IWD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Zoning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008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100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#1, #2,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90-95/100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636 Grassmere 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95/100</a:t>
            </a:r>
          </a:p>
        </p:txBody>
      </p:sp>
      <p:pic>
        <p:nvPicPr>
          <p:cNvPr id="9" name="Picture 8" descr="rank1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$15,000,000  (2022)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$236.32/SF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6.02 ac  |  1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63,474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200 Athens 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93/100</a:t>
            </a:r>
          </a:p>
        </p:txBody>
      </p:sp>
      <p:pic>
        <p:nvPicPr>
          <p:cNvPr id="19" name="Picture 18" descr="rank2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2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$36,000,000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$146.25/SF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8.70 ac  |  8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210 Athens 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90/100</a:t>
            </a:r>
          </a:p>
        </p:txBody>
      </p:sp>
      <p:pic>
        <p:nvPicPr>
          <p:cNvPr id="29" name="Picture 28" descr="rank3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3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$32,250,000  (2022)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$203.39/SF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10.01 ac  |  5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MUG-NS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#4, #5, #6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85-89/100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227 French Landing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89/100</a:t>
            </a:r>
          </a:p>
        </p:txBody>
      </p:sp>
      <p:pic>
        <p:nvPicPr>
          <p:cNvPr id="9" name="Picture 8" descr="rank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$22,350,000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$201.50/SF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4.93 ac  |  5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501 Great Circle 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88/100</a:t>
            </a:r>
          </a:p>
        </p:txBody>
      </p:sp>
      <p:pic>
        <p:nvPicPr>
          <p:cNvPr id="19" name="Picture 18" descr="rank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$143.08/SF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6.22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71,916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215 Cumberland Bnd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85/100</a:t>
            </a:r>
          </a:p>
        </p:txBody>
      </p:sp>
      <p:pic>
        <p:nvPicPr>
          <p:cNvPr id="29" name="Picture 28" descr="rank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$10,850,000  (2020)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$107.29/SF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1980  |  8.20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#7, #8, #9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80-82/100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545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82/100</a:t>
            </a:r>
          </a:p>
        </p:txBody>
      </p:sp>
      <p:pic>
        <p:nvPicPr>
          <p:cNvPr id="9" name="Picture 8" descr="rank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$85,500,000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$324.59/SF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8.60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621 Mainstream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19" name="Picture 18" descr="rank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$16,150,000  (2023)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$305.19/SF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601 Mainstream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29" name="Picture 28" descr="rank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$13,100,000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$247.56/SF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#10, #11, #12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76-78/100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616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78/100</a:t>
            </a:r>
          </a:p>
        </p:txBody>
      </p:sp>
      <p:pic>
        <p:nvPicPr>
          <p:cNvPr id="9" name="Picture 8" descr="rank1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$13,030,000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$155.66/SF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3.74 ac  |  6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83,708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25 Century Blvd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77/100</a:t>
            </a:r>
          </a:p>
        </p:txBody>
      </p:sp>
      <p:pic>
        <p:nvPicPr>
          <p:cNvPr id="19" name="Picture 18" descr="rank11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1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$30,000,000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$228.93/SF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6.85 ac  |  6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 Burton Hills Blvd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76/100</a:t>
            </a:r>
          </a:p>
        </p:txBody>
      </p:sp>
      <p:pic>
        <p:nvPicPr>
          <p:cNvPr id="29" name="Picture 28" descr="rank12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2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$12,000,000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$98.39/SF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7.07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SP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75-75/100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104 Woodmont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75/100</a:t>
            </a:r>
          </a:p>
        </p:txBody>
      </p:sp>
      <p:pic>
        <p:nvPicPr>
          <p:cNvPr id="9" name="Picture 8" descr="rank13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13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$50,970,857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$140.77/SF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2.40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OR20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#14, #15, #16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68-72/100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1321 Murfreesboro Pike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72/100</a:t>
            </a:r>
          </a:p>
        </p:txBody>
      </p:sp>
      <p:pic>
        <p:nvPicPr>
          <p:cNvPr id="9" name="Picture 8" descr="rank1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$18,500,000  (2021)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$97.45/SF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1987  |  5.30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CL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5880 Nolensville 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70/100</a:t>
            </a:r>
          </a:p>
        </p:txBody>
      </p:sp>
      <p:pic>
        <p:nvPicPr>
          <p:cNvPr id="19" name="Picture 18" descr="rank1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$17,000,000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$184.04/SF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1989  |  13.80 ac  |  2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R10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92,370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490 Metroplex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68/100</a:t>
            </a:r>
          </a:p>
        </p:txBody>
      </p:sp>
      <p:pic>
        <p:nvPicPr>
          <p:cNvPr id="29" name="Picture 28" descr="rank1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$11,000,000 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$129.99/SF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4.68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84,620 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#17, #18, #19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60-65/100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750 Old Hickory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65/100</a:t>
            </a:r>
          </a:p>
        </p:txBody>
      </p:sp>
      <p:pic>
        <p:nvPicPr>
          <p:cNvPr id="9" name="Picture 8" descr="rank1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$88,300,000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$102.42/SF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1983  |  14.50 ac  |  2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99,550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 Centerview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63/100</a:t>
            </a:r>
          </a:p>
        </p:txBody>
      </p:sp>
      <p:pic>
        <p:nvPicPr>
          <p:cNvPr id="19" name="Picture 18" descr="rank1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$19,500,000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$78.45/SF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25.36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1000 Northchase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60/100</a:t>
            </a:r>
          </a:p>
        </p:txBody>
      </p:sp>
      <p:pic>
        <p:nvPicPr>
          <p:cNvPr id="29" name="Picture 28" descr="rank1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$8,350,000  (2026)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$152.30/SF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1988  |  3.18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6ZZ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54,826 SF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58-58/100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3343 Perimeter Hill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58/100</a:t>
            </a:r>
          </a:p>
        </p:txBody>
      </p:sp>
      <p:pic>
        <p:nvPicPr>
          <p:cNvPr id="9" name="Picture 8" descr="rank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2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$5,254,600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$71.64/SF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3.58 ac  |  3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73,352 SF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5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Comparable Sales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B279"/>
                </a:solidFill>
              </a:defRPr>
            </a:pPr>
            <a:r>
              <a:t>648 Grassmere Park  |  20 Comparable Properties  |  Davidson County,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Price 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Avg $/SF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Score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9601200" cy="27432"/>
          </a:xfrm>
          <a:prstGeom prst="rect">
            <a:avLst/>
          </a:prstGeom>
          <a:solidFill>
            <a:srgbClr val="CBB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37744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86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$25,938,000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$115.69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100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2880360"/>
            <a:ext cx="182880" cy="18288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1 —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$10.9M - $36.0M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88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$107 - $236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85-95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3383279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32918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2 — Good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$12.0M - $85.5M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$98 - $325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2918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75-82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" y="3886199"/>
            <a:ext cx="182880" cy="18288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37947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3 — Supporting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79475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794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$5.3M - $88.3M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79475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$72 - $184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794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58-72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
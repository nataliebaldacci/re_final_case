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2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BZA Cases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BZA Cases</c:v>
                </c:pt>
              </c:strCache>
            </c:strRef>
          </c:tx>
          <c:spPr>
            <a:solidFill>
              <a:srgbClr val="3A5566"/>
            </a:solidFill>
          </c:spPr>
          <c:cat>
            <c:strRef>
              <c:f>Sheet1!$A$2:$A$14</c:f>
              <c:strCache>
                <c:ptCount val="13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</c:v>
                </c:pt>
                <c:pt idx="1">
                  <c:v>9</c:v>
                </c:pt>
                <c:pt idx="2">
                  <c:v>16</c:v>
                </c:pt>
                <c:pt idx="3">
                  <c:v>9</c:v>
                </c:pt>
                <c:pt idx="4">
                  <c:v>16</c:v>
                </c:pt>
                <c:pt idx="5">
                  <c:v>14</c:v>
                </c:pt>
                <c:pt idx="6">
                  <c:v>15</c:v>
                </c:pt>
                <c:pt idx="7">
                  <c:v>17</c:v>
                </c:pt>
                <c:pt idx="8">
                  <c:v>15</c:v>
                </c:pt>
                <c:pt idx="9">
                  <c:v>14</c:v>
                </c:pt>
                <c:pt idx="10">
                  <c:v>10</c:v>
                </c:pt>
                <c:pt idx="11">
                  <c:v>6</c:v>
                </c:pt>
                <c:pt idx="1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Office Permits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Permits Issued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Sheet1!$A$2:$A$21</c:f>
              <c:strCache>
                <c:ptCount val="20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166</c:v>
                </c:pt>
                <c:pt idx="1">
                  <c:v>502</c:v>
                </c:pt>
                <c:pt idx="2">
                  <c:v>400</c:v>
                </c:pt>
                <c:pt idx="3">
                  <c:v>307</c:v>
                </c:pt>
                <c:pt idx="4">
                  <c:v>406</c:v>
                </c:pt>
                <c:pt idx="5">
                  <c:v>353</c:v>
                </c:pt>
                <c:pt idx="6">
                  <c:v>379</c:v>
                </c:pt>
                <c:pt idx="7">
                  <c:v>391</c:v>
                </c:pt>
                <c:pt idx="8">
                  <c:v>450</c:v>
                </c:pt>
                <c:pt idx="9">
                  <c:v>539</c:v>
                </c:pt>
                <c:pt idx="10">
                  <c:v>508</c:v>
                </c:pt>
                <c:pt idx="11">
                  <c:v>471</c:v>
                </c:pt>
                <c:pt idx="12">
                  <c:v>489</c:v>
                </c:pt>
                <c:pt idx="13">
                  <c:v>494</c:v>
                </c:pt>
                <c:pt idx="14">
                  <c:v>429</c:v>
                </c:pt>
                <c:pt idx="15">
                  <c:v>381</c:v>
                </c:pt>
                <c:pt idx="16">
                  <c:v>506</c:v>
                </c:pt>
                <c:pt idx="17">
                  <c:v>369</c:v>
                </c:pt>
                <c:pt idx="18">
                  <c:v>361</c:v>
                </c:pt>
                <c:pt idx="19">
                  <c:v>366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Annual Construction Value ($ 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Construction Value ($M)</c:v>
                </c:pt>
              </c:strCache>
            </c:strRef>
          </c:tx>
          <c:spPr>
            <a:solidFill>
              <a:srgbClr val="2E7D32"/>
            </a:solidFill>
          </c:spPr>
          <c:cat>
            <c:strRef>
              <c:f>Sheet1!$A$2:$A$21</c:f>
              <c:strCache>
                <c:ptCount val="20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28.60521696</c:v>
                </c:pt>
                <c:pt idx="1">
                  <c:v>186.75023897999998</c:v>
                </c:pt>
                <c:pt idx="2">
                  <c:v>30.16160137</c:v>
                </c:pt>
                <c:pt idx="3">
                  <c:v>27.32372482</c:v>
                </c:pt>
                <c:pt idx="4">
                  <c:v>42.90492372</c:v>
                </c:pt>
                <c:pt idx="5">
                  <c:v>126.18557049</c:v>
                </c:pt>
                <c:pt idx="6">
                  <c:v>86.78543437</c:v>
                </c:pt>
                <c:pt idx="7">
                  <c:v>164.5064612</c:v>
                </c:pt>
                <c:pt idx="8">
                  <c:v>197.76109091</c:v>
                </c:pt>
                <c:pt idx="9">
                  <c:v>347.60499228</c:v>
                </c:pt>
                <c:pt idx="10">
                  <c:v>341.49302592000004</c:v>
                </c:pt>
                <c:pt idx="11">
                  <c:v>410.41803824</c:v>
                </c:pt>
                <c:pt idx="12">
                  <c:v>531.0691792599999</c:v>
                </c:pt>
                <c:pt idx="13">
                  <c:v>445.02231673</c:v>
                </c:pt>
                <c:pt idx="14">
                  <c:v>474.50201591</c:v>
                </c:pt>
                <c:pt idx="15">
                  <c:v>185.26705004</c:v>
                </c:pt>
                <c:pt idx="16">
                  <c:v>597.25151863</c:v>
                </c:pt>
                <c:pt idx="17">
                  <c:v>332.03112558</c:v>
                </c:pt>
                <c:pt idx="18">
                  <c:v>233.15263121</c:v>
                </c:pt>
                <c:pt idx="19">
                  <c:v>380.02140068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3A5566"/>
                </a:solidFill>
              </a:defRPr>
            </a:pPr>
            <a:r>
              <a:t>Annual Office Sales Volume ($ 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Volume ($M)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Sheet1!$A$2:$A$22</c:f>
              <c:strCache>
                <c:ptCount val="21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1719.041967</c:v>
                </c:pt>
                <c:pt idx="1">
                  <c:v>427.500536</c:v>
                </c:pt>
                <c:pt idx="2">
                  <c:v>448.725879</c:v>
                </c:pt>
                <c:pt idx="3">
                  <c:v>278.549138</c:v>
                </c:pt>
                <c:pt idx="4">
                  <c:v>59.766416</c:v>
                </c:pt>
                <c:pt idx="5">
                  <c:v>34.578051</c:v>
                </c:pt>
                <c:pt idx="6">
                  <c:v>168.341559</c:v>
                </c:pt>
                <c:pt idx="7">
                  <c:v>323.647609</c:v>
                </c:pt>
                <c:pt idx="8">
                  <c:v>414.266256</c:v>
                </c:pt>
                <c:pt idx="9">
                  <c:v>551.418646</c:v>
                </c:pt>
                <c:pt idx="10">
                  <c:v>598.347158</c:v>
                </c:pt>
                <c:pt idx="11">
                  <c:v>578.151817</c:v>
                </c:pt>
                <c:pt idx="12">
                  <c:v>800.182179</c:v>
                </c:pt>
                <c:pt idx="13">
                  <c:v>925.375483</c:v>
                </c:pt>
                <c:pt idx="14">
                  <c:v>1128.972997</c:v>
                </c:pt>
                <c:pt idx="15">
                  <c:v>739.646482</c:v>
                </c:pt>
                <c:pt idx="16">
                  <c:v>959.803533</c:v>
                </c:pt>
                <c:pt idx="17">
                  <c:v>1564.151389</c:v>
                </c:pt>
                <c:pt idx="18">
                  <c:v>378.53783</c:v>
                </c:pt>
                <c:pt idx="19">
                  <c:v>310.846915</c:v>
                </c:pt>
                <c:pt idx="20">
                  <c:v>1170.263244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3A5566"/>
                </a:solidFill>
              </a:defRPr>
            </a:pPr>
            <a:r>
              <a:t>Number of Office Sales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 Count</c:v>
                </c:pt>
              </c:strCache>
            </c:strRef>
          </c:tx>
          <c:spPr>
            <a:solidFill>
              <a:srgbClr val="3A5566"/>
            </a:solidFill>
          </c:spPr>
          <c:cat>
            <c:strRef>
              <c:f>Sheet1!$A$2:$A$22</c:f>
              <c:strCache>
                <c:ptCount val="21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196</c:v>
                </c:pt>
                <c:pt idx="1">
                  <c:v>200</c:v>
                </c:pt>
                <c:pt idx="2">
                  <c:v>179</c:v>
                </c:pt>
                <c:pt idx="3">
                  <c:v>132</c:v>
                </c:pt>
                <c:pt idx="4">
                  <c:v>80</c:v>
                </c:pt>
                <c:pt idx="5">
                  <c:v>67</c:v>
                </c:pt>
                <c:pt idx="6">
                  <c:v>80</c:v>
                </c:pt>
                <c:pt idx="7">
                  <c:v>129</c:v>
                </c:pt>
                <c:pt idx="8">
                  <c:v>133</c:v>
                </c:pt>
                <c:pt idx="9">
                  <c:v>164</c:v>
                </c:pt>
                <c:pt idx="10">
                  <c:v>192</c:v>
                </c:pt>
                <c:pt idx="11">
                  <c:v>165</c:v>
                </c:pt>
                <c:pt idx="12">
                  <c:v>168</c:v>
                </c:pt>
                <c:pt idx="13">
                  <c:v>150</c:v>
                </c:pt>
                <c:pt idx="14">
                  <c:v>142</c:v>
                </c:pt>
                <c:pt idx="15">
                  <c:v>119</c:v>
                </c:pt>
                <c:pt idx="16">
                  <c:v>157</c:v>
                </c:pt>
                <c:pt idx="17">
                  <c:v>112</c:v>
                </c:pt>
                <c:pt idx="18">
                  <c:v>98</c:v>
                </c:pt>
                <c:pt idx="19">
                  <c:v>81</c:v>
                </c:pt>
                <c:pt idx="20">
                  <c:v>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3A5566"/>
                </a:solidFill>
              </a:defRPr>
            </a:pPr>
            <a:r>
              <a:t>Median Price Per SF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$/SF</c:v>
                </c:pt>
              </c:strCache>
            </c:strRef>
          </c:tx>
          <c:spPr>
            <a:ln w="38100">
              <a:solidFill>
                <a:srgbClr val="2E7D32"/>
              </a:solidFill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77.6</c:v>
                </c:pt>
                <c:pt idx="1">
                  <c:v>82.76</c:v>
                </c:pt>
                <c:pt idx="2">
                  <c:v>99.45</c:v>
                </c:pt>
                <c:pt idx="3">
                  <c:v>88.86</c:v>
                </c:pt>
                <c:pt idx="4">
                  <c:v>87.21000000000001</c:v>
                </c:pt>
                <c:pt idx="5">
                  <c:v>86.59</c:v>
                </c:pt>
                <c:pt idx="6">
                  <c:v>77.25999999999999</c:v>
                </c:pt>
                <c:pt idx="7">
                  <c:v>75.83</c:v>
                </c:pt>
                <c:pt idx="8">
                  <c:v>110.86</c:v>
                </c:pt>
                <c:pt idx="9">
                  <c:v>98.96</c:v>
                </c:pt>
                <c:pt idx="10">
                  <c:v>136.34</c:v>
                </c:pt>
                <c:pt idx="11">
                  <c:v>146.70999999999998</c:v>
                </c:pt>
                <c:pt idx="12">
                  <c:v>181.62</c:v>
                </c:pt>
                <c:pt idx="13">
                  <c:v>177.815</c:v>
                </c:pt>
                <c:pt idx="14">
                  <c:v>221.57</c:v>
                </c:pt>
                <c:pt idx="15">
                  <c:v>216.82</c:v>
                </c:pt>
                <c:pt idx="16">
                  <c:v>321.75</c:v>
                </c:pt>
                <c:pt idx="17">
                  <c:v>394.265</c:v>
                </c:pt>
                <c:pt idx="18">
                  <c:v>385.93</c:v>
                </c:pt>
                <c:pt idx="19">
                  <c:v>335.44</c:v>
                </c:pt>
                <c:pt idx="20">
                  <c:v>322.30499999999995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3A5566"/>
                </a:solidFill>
              </a:defRPr>
            </a:pPr>
            <a:r>
              <a:t>Special Exception Outcomes by Code Section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Denied</c:v>
                </c:pt>
              </c:strCache>
            </c:strRef>
          </c:tx>
          <c:spPr>
            <a:solidFill>
              <a:srgbClr val="C62828"/>
            </a:solidFill>
          </c:spPr>
          <c:cat>
            <c:strRef>
              <c:f>Sheet1!$A$2:$A$7</c:f>
              <c:strCache>
                <c:ptCount val="6"/>
                <c:pt idx="0">
                  <c:v>17.16.170
(Religious)</c:v>
                </c:pt>
                <c:pt idx="1">
                  <c:v>17.12.035
(Setback/Sky)</c:v>
                </c:pt>
                <c:pt idx="2">
                  <c:v>17.12.060
(Height)</c:v>
                </c:pt>
                <c:pt idx="3">
                  <c:v>17.16.210
(Industrial)</c:v>
                </c:pt>
                <c:pt idx="4">
                  <c:v>17.16.190
(Transport)</c:v>
                </c:pt>
                <c:pt idx="5">
                  <c:v>17.16.220
(Recreation)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</c:v>
                </c:pt>
                <c:pt idx="1">
                  <c:v>16</c:v>
                </c:pt>
                <c:pt idx="2">
                  <c:v>6</c:v>
                </c:pt>
                <c:pt idx="3">
                  <c:v>1</c:v>
                </c:pt>
                <c:pt idx="4">
                  <c:v>1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Granted</c:v>
                </c:pt>
              </c:strCache>
            </c:strRef>
          </c:tx>
          <c:spPr>
            <a:solidFill>
              <a:srgbClr val="2E7D32"/>
            </a:solidFill>
          </c:spPr>
          <c:cat>
            <c:strRef>
              <c:f>Sheet1!$A$2:$A$7</c:f>
              <c:strCache>
                <c:ptCount val="6"/>
                <c:pt idx="0">
                  <c:v>17.16.170
(Religious)</c:v>
                </c:pt>
                <c:pt idx="1">
                  <c:v>17.12.035
(Setback/Sky)</c:v>
                </c:pt>
                <c:pt idx="2">
                  <c:v>17.12.060
(Height)</c:v>
                </c:pt>
                <c:pt idx="3">
                  <c:v>17.16.210
(Industrial)</c:v>
                </c:pt>
                <c:pt idx="4">
                  <c:v>17.16.190
(Transport)</c:v>
                </c:pt>
                <c:pt idx="5">
                  <c:v>17.16.220
(Recreation)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36</c:v>
                </c:pt>
                <c:pt idx="1">
                  <c:v>12</c:v>
                </c:pt>
                <c:pt idx="2">
                  <c:v>2</c:v>
                </c:pt>
                <c:pt idx="3">
                  <c:v>0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Properties</c:v>
                </c:pt>
              </c:strCache>
            </c:strRef>
          </c:tx>
          <c:spPr>
            <a:solidFill>
              <a:srgbClr val="3A5566"/>
            </a:solidFill>
          </c:spPr>
          <c:cat>
            <c:strRef>
              <c:f>Sheet1!$A$2:$A$10</c:f>
              <c:strCache>
                <c:ptCount val="9"/>
                <c:pt idx="0">
                  <c:v>Strip Shopping
Center</c:v>
                </c:pt>
                <c:pt idx="1">
                  <c:v>Business
Center</c:v>
                </c:pt>
                <c:pt idx="2">
                  <c:v>Vacant
Commercial</c:v>
                </c:pt>
                <c:pt idx="3">
                  <c:v>Warehouse</c:v>
                </c:pt>
                <c:pt idx="4">
                  <c:v>Condo
(Commercial)</c:v>
                </c:pt>
                <c:pt idx="5">
                  <c:v>Retail
Store</c:v>
                </c:pt>
                <c:pt idx="6">
                  <c:v>Apartment
(High Rise)</c:v>
                </c:pt>
                <c:pt idx="7">
                  <c:v>Single
Family</c:v>
                </c:pt>
                <c:pt idx="8">
                  <c:v>Hotel/
Motel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411</c:v>
                </c:pt>
                <c:pt idx="1">
                  <c:v>304</c:v>
                </c:pt>
                <c:pt idx="2">
                  <c:v>239</c:v>
                </c:pt>
                <c:pt idx="3">
                  <c:v>239</c:v>
                </c:pt>
                <c:pt idx="4">
                  <c:v>150</c:v>
                </c:pt>
                <c:pt idx="5">
                  <c:v>147</c:v>
                </c:pt>
                <c:pt idx="6">
                  <c:v>83</c:v>
                </c:pt>
                <c:pt idx="7">
                  <c:v>71</c:v>
                </c:pt>
                <c:pt idx="8">
                  <c:v>93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648 Grassmere Park — Comparable Sales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B279"/>
                </a:solidFill>
              </a:defRPr>
            </a:pPr>
            <a:r>
              <a:t>Subject Property  |  Nashville, Davidson County, TN</a:t>
            </a:r>
          </a:p>
        </p:txBody>
      </p:sp>
      <p:pic>
        <p:nvPicPr>
          <p:cNvPr id="5" name="Picture 4" descr="rank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2743200"/>
          </a:xfrm>
          <a:prstGeom prst="rect">
            <a:avLst/>
          </a:prstGeom>
        </p:spPr>
      </p:pic>
      <p:pic>
        <p:nvPicPr>
          <p:cNvPr id="6" name="Picture 5" descr="rank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2004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0392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$25.9M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Sale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$115.69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Per SF</a:t>
            </a:r>
          </a:p>
        </p:txBody>
      </p:sp>
      <p:sp>
        <p:nvSpPr>
          <p:cNvPr id="9" name="Rectangle 8"/>
          <p:cNvSpPr/>
          <p:nvPr/>
        </p:nvSpPr>
        <p:spPr>
          <a:xfrm>
            <a:off x="1207008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23.49 ac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Lot 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3159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1985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Year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648 Grassmere Park, Nashville, TN 37211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Sale Price: $25,938,000  |  Price/SF: $115.69  |  Sold: 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84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Year Built: 1985  |  Acreage: 23.49 ac  |  Stories: 3  |  Zoning: IWD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Land Use: Office Building (3+ Stories)  |  Comp Score: 100/100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Stories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IWD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Zoning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008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100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Comparable Sales Map — Davidson County, Nashville,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B279"/>
                </a:solidFill>
              </a:defRPr>
            </a:pPr>
            <a:r>
              <a:t>648 Grassmere Park  |  20 Comparable Properties  |  Interactive Map: nataliebaldacci.github.io/RE_Final_Case</a:t>
            </a:r>
          </a:p>
        </p:txBody>
      </p:sp>
      <p:pic>
        <p:nvPicPr>
          <p:cNvPr id="5" name="Picture 4" descr="ma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#1, #2,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90-95/100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636 Grassmere 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95/100</a:t>
            </a:r>
          </a:p>
        </p:txBody>
      </p:sp>
      <p:pic>
        <p:nvPicPr>
          <p:cNvPr id="9" name="Picture 8" descr="rank1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$15,000,000  (2022)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$236.32/SF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6.02 ac  |  1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63,474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200 Athens 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93/100</a:t>
            </a:r>
          </a:p>
        </p:txBody>
      </p:sp>
      <p:pic>
        <p:nvPicPr>
          <p:cNvPr id="19" name="Picture 18" descr="rank2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2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$36,000,000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$146.25/SF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8.70 ac  |  8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210 Athens 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90/100</a:t>
            </a:r>
          </a:p>
        </p:txBody>
      </p:sp>
      <p:pic>
        <p:nvPicPr>
          <p:cNvPr id="29" name="Picture 28" descr="rank3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3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$32,250,000  (2022)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$203.39/SF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10.01 ac  |  5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MUG-NS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#4, #5, #6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85-89/100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227 French Landing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89/100</a:t>
            </a:r>
          </a:p>
        </p:txBody>
      </p:sp>
      <p:pic>
        <p:nvPicPr>
          <p:cNvPr id="9" name="Picture 8" descr="rank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$22,350,000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$201.50/SF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4.93 ac  |  5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501 Great Circle 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88/100</a:t>
            </a:r>
          </a:p>
        </p:txBody>
      </p:sp>
      <p:pic>
        <p:nvPicPr>
          <p:cNvPr id="19" name="Picture 18" descr="rank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$143.08/SF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6.22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71,916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215 Cumberland Bnd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85/100</a:t>
            </a:r>
          </a:p>
        </p:txBody>
      </p:sp>
      <p:pic>
        <p:nvPicPr>
          <p:cNvPr id="29" name="Picture 28" descr="rank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$10,850,000  (2020)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$107.29/SF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1980  |  8.20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#7, #8, #9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80-82/100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545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82/100</a:t>
            </a:r>
          </a:p>
        </p:txBody>
      </p:sp>
      <p:pic>
        <p:nvPicPr>
          <p:cNvPr id="9" name="Picture 8" descr="rank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$85,500,000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$324.59/SF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8.60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621 Mainstream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19" name="Picture 18" descr="rank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$16,150,000  (2023)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$305.19/SF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601 Mainstream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29" name="Picture 28" descr="rank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$13,100,000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$247.56/SF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#10, #11, #12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76-78/100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616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78/100</a:t>
            </a:r>
          </a:p>
        </p:txBody>
      </p:sp>
      <p:pic>
        <p:nvPicPr>
          <p:cNvPr id="9" name="Picture 8" descr="rank1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$13,030,000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$155.66/SF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3.74 ac  |  6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83,708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25 Century Blvd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77/100</a:t>
            </a:r>
          </a:p>
        </p:txBody>
      </p:sp>
      <p:pic>
        <p:nvPicPr>
          <p:cNvPr id="19" name="Picture 18" descr="rank11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1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$30,000,000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$228.93/SF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6.85 ac  |  6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 Burton Hills Blvd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76/100</a:t>
            </a:r>
          </a:p>
        </p:txBody>
      </p:sp>
      <p:pic>
        <p:nvPicPr>
          <p:cNvPr id="29" name="Picture 28" descr="rank12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2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$12,000,000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$98.39/SF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7.07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SP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75-75/100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104 Woodmont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75/100</a:t>
            </a:r>
          </a:p>
        </p:txBody>
      </p:sp>
      <p:pic>
        <p:nvPicPr>
          <p:cNvPr id="9" name="Picture 8" descr="rank13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13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$50,970,857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$140.77/SF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2.40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OR20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#14, #15, #16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68-72/100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1321 Murfreesboro Pike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72/100</a:t>
            </a:r>
          </a:p>
        </p:txBody>
      </p:sp>
      <p:pic>
        <p:nvPicPr>
          <p:cNvPr id="9" name="Picture 8" descr="rank1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$18,500,000  (2021)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$97.45/SF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1987  |  5.30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CL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5880 Nolensville 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70/100</a:t>
            </a:r>
          </a:p>
        </p:txBody>
      </p:sp>
      <p:pic>
        <p:nvPicPr>
          <p:cNvPr id="19" name="Picture 18" descr="rank1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$17,000,000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$184.04/SF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1989  |  13.80 ac  |  2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R10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92,370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490 Metroplex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68/100</a:t>
            </a:r>
          </a:p>
        </p:txBody>
      </p:sp>
      <p:pic>
        <p:nvPicPr>
          <p:cNvPr id="29" name="Picture 28" descr="rank1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$11,000,000 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$129.99/SF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4.68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84,620 SF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#17, #18, #19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60-65/100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750 Old Hickory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65/100</a:t>
            </a:r>
          </a:p>
        </p:txBody>
      </p:sp>
      <p:pic>
        <p:nvPicPr>
          <p:cNvPr id="9" name="Picture 8" descr="rank1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$88,300,000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$102.42/SF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1983  |  14.50 ac  |  2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99,550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 Centerview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63/100</a:t>
            </a:r>
          </a:p>
        </p:txBody>
      </p:sp>
      <p:pic>
        <p:nvPicPr>
          <p:cNvPr id="19" name="Picture 18" descr="rank1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$19,500,000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$78.45/SF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25.36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1000 Northchase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60/100</a:t>
            </a:r>
          </a:p>
        </p:txBody>
      </p:sp>
      <p:pic>
        <p:nvPicPr>
          <p:cNvPr id="29" name="Picture 28" descr="rank1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$8,350,000  (2026)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$152.30/SF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1988  |  3.18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6ZZ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54,826 SF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58-58/100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3343 Perimeter Hill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58/100</a:t>
            </a:r>
          </a:p>
        </p:txBody>
      </p:sp>
      <p:pic>
        <p:nvPicPr>
          <p:cNvPr id="9" name="Picture 8" descr="rank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2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$5,254,600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$71.64/SF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3.58 ac  |  3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73,352 SF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55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Comparable Sales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B279"/>
                </a:solidFill>
              </a:defRPr>
            </a:pPr>
            <a:r>
              <a:t>648 Grassmere Park  |  20 Comparable Properties  |  Davidson County,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Price 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Avg $/SF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Score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9601200" cy="27432"/>
          </a:xfrm>
          <a:prstGeom prst="rect">
            <a:avLst/>
          </a:prstGeom>
          <a:solidFill>
            <a:srgbClr val="CBB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237744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86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$25,938,000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$115.69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100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2880360"/>
            <a:ext cx="182880" cy="18288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1 —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$10.9M - $36.0M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88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$107 - $236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85-95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3383279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71600" y="32918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2 — Good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$12.0M - $85.5M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$98 - $325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2918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75-82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" y="3886199"/>
            <a:ext cx="182880" cy="18288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71600" y="37947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3 — Supporting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79475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794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$5.3M - $88.3M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79475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$72 - $184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794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58-72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Board of Zoning Appeals — Case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Davidson County, Nashville, TN  |  325 Total Cases (2006-2018)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325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BZA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65100"/>
                </a:solidFill>
              </a:defRPr>
            </a:pPr>
            <a:r>
              <a:t>223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Expired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7D32"/>
                </a:solidFill>
              </a:defRPr>
            </a:pPr>
            <a:r>
              <a:t>70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Completed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06F6C"/>
                </a:solidFill>
              </a:defRPr>
            </a:pPr>
            <a:r>
              <a:t>24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Withdrawn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Approved to Pay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0" y="1051560"/>
            <a:ext cx="13716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565C0"/>
                </a:solidFill>
              </a:defRPr>
            </a:pPr>
            <a:r>
              <a:t>1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Granted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237744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Top Case Subtypes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Case Subtype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2834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1546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Religious Institution,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154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Day Care Home, Single F...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45643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7581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Zoning Appeal...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375818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0599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Kennel / Stable, Kennel...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40599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361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Day Care Center (Up To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436168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6634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Master Permit Applicati...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46634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9651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Religious Institution,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49651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2669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Multifamily, Condominiu...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52669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843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Status 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2087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EXPIRED: 223 (69%)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46480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Done: 70 (22%)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7208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Withdrawn: 24 (7%)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697687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OK to Pay Permit Fee: 5 (2%)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723290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Cancelled: 1 (0%)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748893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Payment was refunded/permit cancelled: 1 (0%)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774496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GRANTED: 1 (0%)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Building Permit History — Davidson County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General Office, Professional Services  |  8,291 Total Permits (2006-2025)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8,291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Permits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7D32"/>
                </a:solidFill>
              </a:defRPr>
            </a:pPr>
            <a:r>
              <a:t>$5.17B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Const.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$894K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Avg Const.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565C0"/>
                </a:solidFill>
              </a:defRPr>
            </a:pPr>
            <a:r>
              <a:t>6,475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Completed (78%)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65100"/>
                </a:solidFill>
              </a:defRPr>
            </a:pPr>
            <a:r>
              <a:t>1,447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Expired (17%)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237744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Permit Type Breakdown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2834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15468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Rehab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31546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6,001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5643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Tenant Finish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34564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5818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37581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5993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Use &amp; Occupancy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40599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36168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Addition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43616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221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66344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Commercial Rehab Storm Damage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46634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96519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Shell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49651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526694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52669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843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Key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2087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Peak activity: 2015 (539 permits), 2016 (508)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8309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Highest construction value: 2022 ($597M)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7574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Rehab permits dominate (72% of all permits)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703173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New construction: 394 permits (5% of total)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730605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Consistent ~400-500 permits/year since 2010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Construction Value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Total Construction Value by Year  |  Davidson County, Nashville, TN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5566"/>
                </a:solidFill>
              </a:defRPr>
            </a:pPr>
            <a:r>
              <a:t>Construction Value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$187M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2007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Early boom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$348M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2015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Post-recession surge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$410M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2017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Peak pre-COVID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$531M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2018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Record 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$475M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2020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Resilience through COVID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$597M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2022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All-time record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Nashville Office Sales — 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Davidson County  |  14,841 Office Properties  |  8,207 Recorded 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192024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14,841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Office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051560"/>
            <a:ext cx="192024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8,207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Recorded Sales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051560"/>
            <a:ext cx="192024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2E7D32"/>
                </a:solidFill>
              </a:defRPr>
            </a:pPr>
            <a:r>
              <a:t>$17.8B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Total 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051560"/>
            <a:ext cx="192024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$2.2M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Avg Sale 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051560"/>
            <a:ext cx="192024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$240K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Median Sale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1051560"/>
            <a:ext cx="13716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2,020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Total Buildings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2377440"/>
          <a:ext cx="71323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Sales by Office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34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8346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834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Avg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2834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Median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5468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Office (1-2 Story)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1546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3A5566"/>
                </a:solidFill>
              </a:defRPr>
            </a:pPr>
            <a:r>
              <a:t>6,210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154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$1.1M avg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3154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$190K 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474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Office (3+ Story)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47472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3A5566"/>
                </a:solidFill>
              </a:defRPr>
            </a:pPr>
            <a:r>
              <a:t>836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4747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$11.3M avg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34747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$2.3M 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7947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Medical (1-2 Story)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79476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3A5566"/>
                </a:solidFill>
              </a:defRPr>
            </a:pPr>
            <a:r>
              <a:t>1,054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79476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$933K avg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379476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$253K 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148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Medical (3+ Story)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1148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3A5566"/>
                </a:solidFill>
              </a:defRPr>
            </a:pPr>
            <a:r>
              <a:t>107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1148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$2.2M avg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41148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$214K 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00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648 Grassmere Park — Market Position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166359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Overall Market Rank: #84 of 2,020 buildings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422392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95.8th percentile by appraised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5678424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3+ Story Office Rank: #63 of 213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5934456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IWD Zone Rank: #4 of 153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6190488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Sale Price: $25.9M (2015) at $115.69/SF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6446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Total Appraised: $37.4M (current)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Sales Price Trends — $/SF Over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Davidson County  |  Median &amp; Average Price Per Square Foot  |  2005-2025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005840"/>
          <a:ext cx="566928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74320" y="3749039"/>
          <a:ext cx="566928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Office Sales Data by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4173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173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Total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173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Avg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14173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06F6C"/>
                </a:solidFill>
              </a:defRPr>
            </a:pPr>
            <a:r>
              <a:t>Med $/SF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9164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9164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$1719M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9164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$8.8M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169164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94767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94767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94767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$279M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94767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$2.1M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194767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0370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20370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20370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20370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$0.5M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220370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5973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45973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245973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$414M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45973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5973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$111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71576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71576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71576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$598M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71576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$3.1M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271576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$136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7180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97180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7180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297180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$4.8M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297180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$182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322783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22783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322783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$925M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322783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$6.2M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322783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$178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48386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2019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348386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142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348386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$1129M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880" y="348386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$8.0M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348386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$222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73989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373989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373989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$740M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373989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$6.2M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73989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399592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399592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0" y="399592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$960M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0" y="399592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$6.1M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07040" y="3995928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$322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425196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2022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425196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112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425196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$1564M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425196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$14.0M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251960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$394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450799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50799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98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0" y="450799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$379M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26880" y="450799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$3.9M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0" y="4507992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$386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476402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476402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46720" y="476402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$311M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0" y="476402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$3.8M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07040" y="4764024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$335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502005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2025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0" y="502005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87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0" y="502005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$1170M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0" y="502005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$13.5M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502005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$322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54589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Key Takeaways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5733288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Median $/SF grew 4x from $78/SF (2005) to $322/SF (2025)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83680" y="5980176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Peak transaction volume: $1.56B in 2022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83680" y="622706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2019 was the high-water mark for avg price ($7.95M)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6473952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Post-COVID recovery strong: 2021-2022 saw record values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672084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Transaction count declined from 200/yr to ~90/yr (flight to quality)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83680" y="6967728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648 Grassmere at $115.69/SF sold below 2015 median of $136/SF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648 Grassmere Park — Ownership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APN: 13300013500  |  Chain of Title from Original Development (1985) to 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005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005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Price /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005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Instrument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005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Notes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80160"/>
            <a:ext cx="11612880" cy="18288"/>
          </a:xfrm>
          <a:prstGeom prst="rect">
            <a:avLst/>
          </a:prstGeom>
          <a:solidFill>
            <a:srgbClr val="E2E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3716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1985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71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AT&amp;T Resource Management Corp.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3716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6F6C"/>
                </a:solidFill>
              </a:defRPr>
            </a:pPr>
            <a:r>
              <a:t>Original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3716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Deed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3716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Built the 3-story office complex on 23.49 acres as part of Grassmere Park corporate campus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874519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19202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1985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920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AT&amp;T / Grassmere Park Assn.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920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6F6C"/>
                </a:solidFill>
              </a:defRPr>
            </a:pPr>
            <a:r>
              <a:t>Joint Ownership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202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Deed/QC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9202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Established Grassmere Park Association with CCRs (Book 6008, Page 866)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2316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4688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06F6C"/>
                </a:solidFill>
              </a:defRPr>
            </a:pPr>
            <a:r>
              <a:t>1985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4688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Grassmere Park Associates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688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6F6C"/>
                </a:solidFill>
              </a:defRPr>
            </a:pPr>
            <a:r>
              <a:t>Deed of Correction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4688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DC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4688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Two corrections recorded (Book 6934) to original conveyance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7180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3017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65C0"/>
                </a:solidFill>
              </a:defRPr>
            </a:pPr>
            <a:r>
              <a:t>2004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0175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ARI-Grassmere Corporate Plaza,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01752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D32"/>
                </a:solidFill>
              </a:defRPr>
            </a:pPr>
            <a:r>
              <a:t>$22,030,000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017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Deed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0175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Major acquisition: ARI purchased entire campus, then subdivided into 20+ individual LLC units (ARI-GCP 1 through 31)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2044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5661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65C0"/>
                </a:solidFill>
              </a:defRPr>
            </a:pPr>
            <a:r>
              <a:t>2004-05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5661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ARI-GCP 1-31 LLCs (20+ entities)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5661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D32"/>
                </a:solidFill>
              </a:defRPr>
            </a:pPr>
            <a:r>
              <a:t>$48.5M total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5661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Multiple Deeds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5661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Individual suite/floor interests conveyed to separate LLCs at prices ranging from $66K to $2.05M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06908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1148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2011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4114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Grassmere Corporate Plaza,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114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6F6C"/>
                </a:solidFill>
              </a:defRPr>
            </a:pPr>
            <a:r>
              <a:t>Reconsolidation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41148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20+ Quit Claims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1148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All ARI-GCP entities reconsolidated back into single ownership via 20+ quit claim deeds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1772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46634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06F6C"/>
                </a:solidFill>
              </a:defRPr>
            </a:pPr>
            <a:r>
              <a:t>2011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4663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GCP HoldCo,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6634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6F6C"/>
                </a:solidFill>
              </a:defRPr>
            </a:pPr>
            <a:r>
              <a:t>Holding Co Transfer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46634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QC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6634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Transferred to holding company structure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166359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5212079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2015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521207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MarketStreet Grassmere, 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2120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D32"/>
                </a:solidFill>
              </a:defRPr>
            </a:pPr>
            <a:r>
              <a:t>$25,938,000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0" y="5212079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Deed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212079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Current owner. Acquired at $115.69/SF. Active status. Instrument: DB-20150612 0055733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714999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5897879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Key Observations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21791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4 major ownership changes in 40 years: AT&amp;T (original) &gt; ARI (2004, $22M) &gt; Reconsolidation (2011) &gt; MarketStreet (2015, $25.9M)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49223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2004 ARI acquisition included complex condo-style subdivision into 20+ LLC entities, later reconsolidated in 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76655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Current appraised value ($37.4M) represents 44% appreciation over the 2015 purchase price ($25.9M)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7040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67 total recorded instruments on this parcel reflect the complex ownership and restructuring history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BZA Special Exceptions — Office Use Change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Davidson County  |  No Successful Office-to-Residential Conversions in BZA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914400"/>
          </a:xfrm>
          <a:prstGeom prst="rect">
            <a:avLst/>
          </a:prstGeom>
          <a:solidFill>
            <a:srgbClr val="FDEDED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62828"/>
                </a:solidFill>
              </a:defRPr>
            </a:pPr>
            <a:r>
              <a:t>KEY FINDING: Zero BZA special exceptions have been granted for office-to-residential use conversion in Davidson County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5566"/>
                </a:solidFill>
              </a:defRPr>
            </a:pPr>
            <a:r>
              <a:t>Of 325 BZA cases reviewed (2006-2022), no case successfully converted an office building to residential use through the special exception process.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192024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325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Total BZA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2103120"/>
            <a:ext cx="192024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54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Denied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92024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2E7D32"/>
                </a:solidFill>
              </a:defRPr>
            </a:pPr>
            <a:r>
              <a:t>46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Granted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2103120"/>
            <a:ext cx="192024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706F6C"/>
                </a:solidFill>
              </a:defRPr>
            </a:pPr>
            <a:r>
              <a:t>23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Withdrawn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103120"/>
            <a:ext cx="192024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5100"/>
                </a:solidFill>
              </a:defRPr>
            </a:pPr>
            <a:r>
              <a:t>202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Expired/No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2103120"/>
            <a:ext cx="137160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0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Office &gt; Res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3291840"/>
          <a:ext cx="64008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040880" y="3291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Why This Matters for 648 Grassmere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65760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IWD Zoning Restrictions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58768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648 Grassmere is zoned IWD (Industrial Wedgewood-Donelson). Converting office use to residential would require a special exception or rezoning.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261103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BZA Track Record Shows: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462271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  - 0 office-to-residential conversions granted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663439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  - Industrial use changes (17.16.210): 1 denied, 0 granted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64607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- Most granted SEs are for religious institutions (17.16.170)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65775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- Setback/height SEs for new office construction have ~43%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468111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Relevant SE Sections for IWD Office: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669279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  17.16.210 — Industrial special exceptions (waste, manufacturing)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870447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  17.12.035 — Building setback/sky exposure plane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071615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6F6C"/>
                </a:solidFill>
              </a:defRPr>
            </a:pPr>
            <a:r>
              <a:t>  17.12.060 — Building height exceptions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6473951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Implication: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675119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Any attempt to convert 648 Grassmere from office to residential faces a historically unprecedented path through BZA with no prior approvals to cite as precedent.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648 Grassmere Park — Ownership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APN: 13300013500  |  Chain of Title  |  1985 to 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Price/Action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11612880" cy="18288"/>
          </a:xfrm>
          <a:prstGeom prst="rect">
            <a:avLst/>
          </a:prstGeom>
          <a:solidFill>
            <a:srgbClr val="E2E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716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1985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AT&amp;T Resource Management Corp.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3716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6F6C"/>
                </a:solidFill>
              </a:defRPr>
            </a:pPr>
            <a:r>
              <a:t>Original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Built 3-story office complex, 23.49 ac. Established Grassmere Park Association with CCRs.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6596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0116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2004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0116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ARI-Grassmere Corporate Plaza,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0116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$22,030,000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0116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Major acquisition. Subdivided into 20+ LLC entities (ARI-GCP 1-31). Total entity value ~$48.5M.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0604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651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6517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ARI-GCP 28, LLC et 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6517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$22,030,000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51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Deed of correction to original ARI bulk purchase.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2918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2011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2918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Grassmere Corporate Plaza,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2918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6F6C"/>
                </a:solidFill>
              </a:defRPr>
            </a:pPr>
            <a:r>
              <a:t>Reconsolidation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291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20+ quit claim deeds reconsolidated all ARI-GCP entities back into single ownership.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8620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39319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2011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9319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GCP HoldCo,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9319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6F6C"/>
                </a:solidFill>
              </a:defRPr>
            </a:pPr>
            <a:r>
              <a:t>Holding Co Transfer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Transferred to holding company structure via quit claim.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52628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45720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2015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572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5566"/>
                </a:solidFill>
              </a:defRPr>
            </a:pPr>
            <a:r>
              <a:t>MarketStreet Grassmere, 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5720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$25,938,000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CURRENT OWNER. Acquired at $115.69/SF. 67 total instruments on record.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166360"/>
            <a:ext cx="1161288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530352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Key Observations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6235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4 major ownership periods: AT&amp;T (original dev) &gt; ARI (2004, $22M complex restructuring) &gt; Reconsolidation (2011) &gt; MarketStreet (2015, $25.9M)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916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Current appraised value ($37.4M) = 44% appreciation over 2015 purchase price ($25.9M)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20877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2004 ARI acquisition included unusual condo-style subdivision into 20+ single-purpose LLCs, all reconsolidated by 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50138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67 total recorded instruments reflect complex restructuring history — unusual for a single office building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Use Conversion Analysis — No Precedent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BZA Special Exceptions + Permit History  |  Davidson County, Nashville, TN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11612880" cy="868680"/>
          </a:xfrm>
          <a:prstGeom prst="rect">
            <a:avLst/>
          </a:prstGeom>
          <a:solidFill>
            <a:srgbClr val="FDEDED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62828"/>
                </a:solidFill>
              </a:defRPr>
            </a:pPr>
            <a:r>
              <a:t>ZERO office-to-residential conversions have been approved through BZA special exception in Davidson County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5566"/>
                </a:solidFill>
              </a:defRPr>
            </a:pPr>
            <a:r>
              <a:t>Of 8,291 office permits reviewed, 36 converted residential TO office. Zero converted office TO residential. This is a one-way street.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8,291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Office Permits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565C0"/>
                </a:solidFill>
              </a:defRPr>
            </a:pPr>
            <a:r>
              <a:t>36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Res &gt; Office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0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Office &gt; 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325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BZA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54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SE Denied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011680"/>
            <a:ext cx="155448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46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SE Granted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9840" y="201168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0</a:t>
            </a:r>
          </a:p>
          <a:p>
            <a:pPr algn="ctr">
              <a:defRPr sz="900">
                <a:solidFill>
                  <a:srgbClr val="706F6C"/>
                </a:solidFill>
              </a:defRPr>
            </a:pPr>
            <a:r>
              <a:t>Office Conv.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291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What Happened to Former Office Properties (1,712 properties)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274320" y="3657600"/>
          <a:ext cx="566928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3291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5566"/>
                </a:solidFill>
              </a:defRPr>
            </a:pPr>
            <a:r>
              <a:t>Why This Matters for 648 Grassmere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576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The Conversion Path Does Not Exist: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233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1. BZA Record: No special exception for office-to-residential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    conversion has ever been granted in Davidson County.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720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2. Permit Record: Of 8,291 office building permits, 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548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62828"/>
                </a:solidFill>
              </a:defRPr>
            </a:pPr>
            <a:r>
              <a:t>    involved converting an office to residential 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1206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565C0"/>
                </a:solidFill>
              </a:defRPr>
            </a:pPr>
            <a:r>
              <a:t>3. One-Way Street: 36 properties converted residential 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565C0"/>
                </a:solidFill>
              </a:defRPr>
            </a:pPr>
            <a:r>
              <a:t>    office. The reverse has never occurred through permits.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692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4. Former Offices Became: Retail (24%), commercial (18%),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8521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  vacant (14%), warehouse (14%). Only 12% became residential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60350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  — likely through demolition and new construction,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217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  adaptive reuse or use conversion.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5836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5. IWD Zoning (648 Grassmere): Industrial Wedgewood-Donelson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6766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  zoning adds additional barriers. SE 17.16.210 for industrial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9494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    use changes: 1 denied, 0 granted for office conversions.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7315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62828"/>
                </a:solidFill>
              </a:defRPr>
            </a:pPr>
            <a:r>
              <a:t>Conclusion: Any proposal to convert 648 Grassmere from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74980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62828"/>
                </a:solidFill>
              </a:defRPr>
            </a:pPr>
            <a:r>
              <a:t>office to residential has zero historical precedent 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76809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62828"/>
                </a:solidFill>
              </a:defRPr>
            </a:pPr>
            <a:r>
              <a:t>would face an unprecedented path through BZA.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1244</Words>
  <Application>Microsoft Macintosh PowerPoint</Application>
  <PresentationFormat>Widescreen</PresentationFormat>
  <Paragraphs>223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Natalie Baldacci</cp:lastModifiedBy>
  <cp:revision>1</cp:revision>
  <dcterms:created xsi:type="dcterms:W3CDTF">2013-01-27T09:14:16Z</dcterms:created>
  <dcterms:modified xsi:type="dcterms:W3CDTF">2026-02-18T00:44:46Z</dcterms:modified>
  <cp:category/>
</cp:coreProperties>
</file>
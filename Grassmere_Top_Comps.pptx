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6" r:id="rId16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image" Target="../media/image2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Relationship Id="rId6" Type="http://schemas.openxmlformats.org/officeDocument/2006/relationships/image" Target="../media/image33.jpg"/><Relationship Id="rId7" Type="http://schemas.openxmlformats.org/officeDocument/2006/relationships/image" Target="../media/image3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648 Grassmere Park — Comparable Sales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BB279"/>
                </a:solidFill>
              </a:defRPr>
            </a:pPr>
            <a:r>
              <a:t>Subject Property  |  Nashville, Davidson County, TN</a:t>
            </a:r>
          </a:p>
        </p:txBody>
      </p:sp>
      <p:pic>
        <p:nvPicPr>
          <p:cNvPr id="5" name="Picture 4" descr="rank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114800" cy="2743200"/>
          </a:xfrm>
          <a:prstGeom prst="rect">
            <a:avLst/>
          </a:prstGeom>
        </p:spPr>
      </p:pic>
      <p:pic>
        <p:nvPicPr>
          <p:cNvPr id="6" name="Picture 5" descr="rank0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71600"/>
            <a:ext cx="3200400" cy="2743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503920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$25.9M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Sale Price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87000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$115.69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Per SF</a:t>
            </a:r>
          </a:p>
        </p:txBody>
      </p:sp>
      <p:sp>
        <p:nvSpPr>
          <p:cNvPr id="9" name="Rectangle 8"/>
          <p:cNvSpPr/>
          <p:nvPr/>
        </p:nvSpPr>
        <p:spPr>
          <a:xfrm>
            <a:off x="12070080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23.49 ac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Lot Size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853159" y="13716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1985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Year 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89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648 Grassmere Park, Nashville, TN 37211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365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Sale Price: $25,938,000  |  Price/SF: $115.69  |  Sold: 2015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8406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Year Built: 1985  |  Acreage: 23.49 ac  |  Stories: 3  |  Zoning: IWD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3153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5566"/>
                </a:solidFill>
              </a:defRPr>
            </a:pPr>
            <a:r>
              <a:t>Land Use: Office Building (3+ Stories)  |  Comp Score: 100/100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27432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3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Stories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87000" y="27432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IWD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Zoning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070080" y="2743200"/>
            <a:ext cx="1645920" cy="1188720"/>
          </a:xfrm>
          <a:prstGeom prst="rect">
            <a:avLst/>
          </a:prstGeom>
          <a:solidFill>
            <a:srgbClr val="F2F0ED"/>
          </a:solidFill>
          <a:ln>
            <a:solidFill>
              <a:srgbClr val="E2E2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3A5566"/>
                </a:solidFill>
              </a:defRPr>
            </a:pPr>
            <a:r>
              <a:t>100</a:t>
            </a:r>
          </a:p>
          <a:p>
            <a:pPr algn="ctr">
              <a:defRPr sz="1000">
                <a:solidFill>
                  <a:srgbClr val="706F6C"/>
                </a:solidFill>
              </a:defRPr>
            </a:pPr>
            <a:r>
              <a:t>Comp 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1 — Best Comparables — #1, #2,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90-95/100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636 Grassmere Park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95/100</a:t>
            </a:r>
          </a:p>
        </p:txBody>
      </p:sp>
      <p:pic>
        <p:nvPicPr>
          <p:cNvPr id="9" name="Picture 8" descr="rank1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$15,000,000  (2022)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$236.32/SF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6.02 ac  |  1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63,474 SF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200 Athens 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93/100</a:t>
            </a:r>
          </a:p>
        </p:txBody>
      </p:sp>
      <p:pic>
        <p:nvPicPr>
          <p:cNvPr id="19" name="Picture 18" descr="rank2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2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$36,000,000  (2019)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$146.25/SF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8.70 ac  |  8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210 Athens Way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90/100</a:t>
            </a:r>
          </a:p>
        </p:txBody>
      </p:sp>
      <p:pic>
        <p:nvPicPr>
          <p:cNvPr id="29" name="Picture 28" descr="rank3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3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$32,250,000  (2022)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$203.39/SF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10.01 ac  |  5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MUG-NS  |  Office (3+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1 — Best Comparables — #4, #5, #6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85-89/100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227 French Landing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89/100</a:t>
            </a:r>
          </a:p>
        </p:txBody>
      </p:sp>
      <p:pic>
        <p:nvPicPr>
          <p:cNvPr id="9" name="Picture 8" descr="rank4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4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$22,350,000  (2019)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$201.50/SF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4.93 ac  |  5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501 Great Circle 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88/100</a:t>
            </a:r>
          </a:p>
        </p:txBody>
      </p:sp>
      <p:pic>
        <p:nvPicPr>
          <p:cNvPr id="19" name="Picture 18" descr="rank5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5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$18,000,000  (2019)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$143.08/SF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6.22 ac  |  3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71,916 SF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215 Cumberland Bnd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85/100</a:t>
            </a:r>
          </a:p>
        </p:txBody>
      </p:sp>
      <p:pic>
        <p:nvPicPr>
          <p:cNvPr id="29" name="Picture 28" descr="rank6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6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$10,850,000  (2020)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$107.29/SF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1980  |  8.20 ac  |  2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2 — Good Comparables — #7, #8, #9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80-82/100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545 Marriott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82/100</a:t>
            </a:r>
          </a:p>
        </p:txBody>
      </p:sp>
      <p:pic>
        <p:nvPicPr>
          <p:cNvPr id="9" name="Picture 8" descr="rank7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7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$85,500,000  (2019)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$324.59/SF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1986  |  8.60 ac  |  8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ORI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621 Mainstream 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80/100</a:t>
            </a:r>
          </a:p>
        </p:txBody>
      </p:sp>
      <p:pic>
        <p:nvPicPr>
          <p:cNvPr id="19" name="Picture 18" descr="rank8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8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$16,150,000  (2023)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$305.19/SF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7.18 ac  |  1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52,917 SF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601 Mainstream 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80/100</a:t>
            </a:r>
          </a:p>
        </p:txBody>
      </p:sp>
      <p:pic>
        <p:nvPicPr>
          <p:cNvPr id="29" name="Picture 28" descr="rank9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9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$13,100,000 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$247.56/SF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7.18 ac  |  1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IWD  |  Office (1-2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52,917 SF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2 — Good Comparables — #10, #11, #12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76-78/100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616 Marriott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78/100</a:t>
            </a:r>
          </a:p>
        </p:txBody>
      </p:sp>
      <p:pic>
        <p:nvPicPr>
          <p:cNvPr id="9" name="Picture 8" descr="rank1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0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$13,030,000  (2018)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$155.66/SF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3.74 ac  |  6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ORI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83,708 SF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25 Century Blvd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77/100</a:t>
            </a:r>
          </a:p>
        </p:txBody>
      </p:sp>
      <p:pic>
        <p:nvPicPr>
          <p:cNvPr id="19" name="Picture 18" descr="rank11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11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$30,000,000  (2025)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$228.93/SF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1986  |  6.85 ac  |  6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ORI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 Burton Hills Blvd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76/100</a:t>
            </a:r>
          </a:p>
        </p:txBody>
      </p:sp>
      <p:pic>
        <p:nvPicPr>
          <p:cNvPr id="29" name="Picture 28" descr="rank12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12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$12,000,000 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$98.39/SF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7.07 ac  |  3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SP  |  Office (3+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2 — Good Comparables — #13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75-75/100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104 Woodmont Blvd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105457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75/100</a:t>
            </a:r>
          </a:p>
        </p:txBody>
      </p:sp>
      <p:pic>
        <p:nvPicPr>
          <p:cNvPr id="9" name="Picture 8" descr="rank13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0911535" cy="1920240"/>
          </a:xfrm>
          <a:prstGeom prst="rect">
            <a:avLst/>
          </a:prstGeom>
        </p:spPr>
      </p:pic>
      <p:pic>
        <p:nvPicPr>
          <p:cNvPr id="10" name="Picture 9" descr="rank13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10911535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$50,970,857  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$140.77/SF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2.40 ac  |  8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OR20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3 — Supporting Comparables — #14, #15, #16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68-72/100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1321 Murfreesboro Pike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72/100</a:t>
            </a:r>
          </a:p>
        </p:txBody>
      </p:sp>
      <p:pic>
        <p:nvPicPr>
          <p:cNvPr id="9" name="Picture 8" descr="rank14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4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$18,500,000  (2021)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$97.45/SF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1987  |  5.30 ac  |  8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CL  |  Office (3+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5880 Nolensville Pike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70/100</a:t>
            </a:r>
          </a:p>
        </p:txBody>
      </p:sp>
      <p:pic>
        <p:nvPicPr>
          <p:cNvPr id="19" name="Picture 18" descr="rank15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15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$17,000,000  (2019)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$184.04/SF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1989  |  13.80 ac  |  2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R10  |  Office (1-2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92,370 SF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490 Metroplex 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68/100</a:t>
            </a:r>
          </a:p>
        </p:txBody>
      </p:sp>
      <p:pic>
        <p:nvPicPr>
          <p:cNvPr id="29" name="Picture 28" descr="rank16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16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$11,000,000  (2024)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$129.99/SF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1986  |  4.68 ac  |  2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CS  |  Office (1-2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84,620 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3 — Supporting Comparables — #17, #18, #19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60-65/100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750 Old Hickory Blvd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65/100</a:t>
            </a:r>
          </a:p>
        </p:txBody>
      </p:sp>
      <p:pic>
        <p:nvPicPr>
          <p:cNvPr id="9" name="Picture 8" descr="rank17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393338" cy="1920240"/>
          </a:xfrm>
          <a:prstGeom prst="rect">
            <a:avLst/>
          </a:prstGeom>
        </p:spPr>
      </p:pic>
      <p:pic>
        <p:nvPicPr>
          <p:cNvPr id="10" name="Picture 9" descr="rank17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3393338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$88,300,000  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$102.42/SF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1983  |  14.50 ac  |  2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OL  |  Office (1-2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99,550 SF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938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100 Centerview 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938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63/100</a:t>
            </a:r>
          </a:p>
        </p:txBody>
      </p:sp>
      <p:pic>
        <p:nvPicPr>
          <p:cNvPr id="19" name="Picture 18" descr="rank18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298" y="1600200"/>
            <a:ext cx="3393338" cy="1920240"/>
          </a:xfrm>
          <a:prstGeom prst="rect">
            <a:avLst/>
          </a:prstGeom>
        </p:spPr>
      </p:pic>
      <p:pic>
        <p:nvPicPr>
          <p:cNvPr id="20" name="Picture 19" descr="rank18_sketc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98" y="3611879"/>
            <a:ext cx="3393338" cy="1463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6298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$19,500,000  (2025)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16298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$78.45/SF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16298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1984  |  25.36 ac  |  3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6298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OL  |  Office (3+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6298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N/A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75396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4036" y="1051560"/>
            <a:ext cx="302757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1000 Northchase 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4036" y="1307592"/>
            <a:ext cx="30275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60/100</a:t>
            </a:r>
          </a:p>
        </p:txBody>
      </p:sp>
      <p:pic>
        <p:nvPicPr>
          <p:cNvPr id="29" name="Picture 28" descr="rank19_phot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396" y="1600200"/>
            <a:ext cx="3393338" cy="1920240"/>
          </a:xfrm>
          <a:prstGeom prst="rect">
            <a:avLst/>
          </a:prstGeom>
        </p:spPr>
      </p:pic>
      <p:pic>
        <p:nvPicPr>
          <p:cNvPr id="30" name="Picture 29" descr="rank19_sketc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5396" y="3611879"/>
            <a:ext cx="3393338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75396" y="52120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$8,350,000  (2026)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5396" y="54406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$152.30/SF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5396" y="56692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1988  |  3.18 ac  |  3 stories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5396" y="58978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6ZZ  |  Office (3+ Stories)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75396" y="6126479"/>
            <a:ext cx="339333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54,826 SF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Tier 3 — Supporting Comparables — #20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B279"/>
                </a:solidFill>
              </a:defRPr>
            </a:pPr>
            <a:r>
              <a:t>Scores: 58-58/100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#20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A5566"/>
                </a:solidFill>
              </a:defRPr>
            </a:pPr>
            <a:r>
              <a:t>3343 Perimeter Hill Dr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105457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706F6C"/>
                </a:solidFill>
              </a:defRPr>
            </a:pPr>
            <a:r>
              <a:t>Nashville, TN  |  Score: 58/100</a:t>
            </a:r>
          </a:p>
        </p:txBody>
      </p:sp>
      <p:pic>
        <p:nvPicPr>
          <p:cNvPr id="9" name="Picture 8" descr="rank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0911535" cy="1920240"/>
          </a:xfrm>
          <a:prstGeom prst="rect">
            <a:avLst/>
          </a:prstGeom>
        </p:spPr>
      </p:pic>
      <p:pic>
        <p:nvPicPr>
          <p:cNvPr id="10" name="Picture 9" descr="rank20_ske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79"/>
            <a:ext cx="10911535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2120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1">
                <a:solidFill>
                  <a:srgbClr val="3A5566"/>
                </a:solidFill>
              </a:defRPr>
            </a:pPr>
            <a:r>
              <a:t>$5,254,600  (2018)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Price/SF: $71.64/SF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Built 1985  |  3.58 ac  |  3 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Zoning: CS  |  Office (1-2 Stories)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26479"/>
            <a:ext cx="1091153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3A5566"/>
                </a:solidFill>
              </a:defRPr>
            </a:pPr>
            <a:r>
              <a:t>Building: 73,352 SF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55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Comparable Sales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BB279"/>
                </a:solidFill>
              </a:defRPr>
            </a:pPr>
            <a:r>
              <a:t>648 Grassmere Park  |  20 Comparable Properties  |  Davidson County, TN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6459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Price 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45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Avg $/SF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BB279"/>
                </a:solidFill>
              </a:defRPr>
            </a:pPr>
            <a:r>
              <a:t>Score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011680"/>
            <a:ext cx="9601200" cy="27432"/>
          </a:xfrm>
          <a:prstGeom prst="rect">
            <a:avLst/>
          </a:prstGeom>
          <a:solidFill>
            <a:srgbClr val="CBB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97280" y="2377440"/>
            <a:ext cx="182880" cy="18288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7160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Subject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2860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$25,938,000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286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$115.69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286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100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" y="2880360"/>
            <a:ext cx="182880" cy="18288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71600" y="2788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1 — Best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788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$10.9M - $36.0M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2788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$107 - $236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788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85-95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3383279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371600" y="32918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2 — Good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29183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2918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$12.0M - $85.5M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29183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$98 - $325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2918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75-82</a:t>
            </a:r>
          </a:p>
        </p:txBody>
      </p:sp>
      <p:sp>
        <p:nvSpPr>
          <p:cNvPr id="28" name="Oval 27"/>
          <p:cNvSpPr/>
          <p:nvPr/>
        </p:nvSpPr>
        <p:spPr>
          <a:xfrm>
            <a:off x="1097280" y="3886199"/>
            <a:ext cx="182880" cy="18288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71600" y="379475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Tier 3 — Supporting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379475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79475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$5.3M - $88.3M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379475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$72 - $184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379475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58-72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A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Comparable Sales Map — Davidson County, Nashville, TN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CBB279"/>
                </a:solidFill>
              </a:defRPr>
            </a:pPr>
            <a:r>
              <a:t>648 Grassmere Park  |  20 Comparable Properties  |  Interactive Map: nataliebaldacci.github.io/RE_Final_Case</a:t>
            </a:r>
          </a:p>
        </p:txBody>
      </p:sp>
      <p:pic>
        <p:nvPicPr>
          <p:cNvPr id="5" name="Picture 4" descr="map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71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1244</Words>
  <Application>Microsoft Macintosh PowerPoint</Application>
  <PresentationFormat>Widescreen</PresentationFormat>
  <Paragraphs>223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Natalie Baldacci</cp:lastModifiedBy>
  <cp:revision>1</cp:revision>
  <dcterms:created xsi:type="dcterms:W3CDTF">2013-01-27T09:14:16Z</dcterms:created>
  <dcterms:modified xsi:type="dcterms:W3CDTF">2026-02-18T00:44:46Z</dcterms:modified>
  <cp:category/>
</cp:coreProperties>
</file>
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6" r:id="rId16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7"/>
    <p:sldId id="268" r:id="rId18"/>
    <p:sldId id="269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74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2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 b="1">
                <a:solidFill>
                  <a:srgbClr val="3A5566"/>
                </a:solidFill>
              </a:defRPr>
            </a:pPr>
            <a:r>
              <a:t>BZA Cases by Year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BZA Cases</c:v>
                </c:pt>
              </c:strCache>
            </c:strRef>
          </c:tx>
          <c:spPr>
            <a:solidFill>
              <a:srgbClr val="3A5566"/>
            </a:solidFill>
          </c:spPr>
          <c:cat>
            <c:strRef>
              <c:f>Sheet1!$A$2:$A$14</c:f>
              <c:strCache>
                <c:ptCount val="13"/>
                <c:pt idx="0">
                  <c:v>2006</c:v>
                </c:pt>
                <c:pt idx="1">
                  <c:v>2007</c:v>
                </c:pt>
                <c:pt idx="2">
                  <c:v>2008</c:v>
                </c:pt>
                <c:pt idx="3">
                  <c:v>2009</c:v>
                </c:pt>
                <c:pt idx="4">
                  <c:v>2010</c:v>
                </c:pt>
                <c:pt idx="5">
                  <c:v>2011</c:v>
                </c:pt>
                <c:pt idx="6">
                  <c:v>2012</c:v>
                </c:pt>
                <c:pt idx="7">
                  <c:v>2013</c:v>
                </c:pt>
                <c:pt idx="8">
                  <c:v>2014</c:v>
                </c:pt>
                <c:pt idx="9">
                  <c:v>2015</c:v>
                </c:pt>
                <c:pt idx="10">
                  <c:v>2016</c:v>
                </c:pt>
                <c:pt idx="11">
                  <c:v>2017</c:v>
                </c:pt>
                <c:pt idx="12">
                  <c:v>2018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</c:v>
                </c:pt>
                <c:pt idx="1">
                  <c:v>9</c:v>
                </c:pt>
                <c:pt idx="2">
                  <c:v>16</c:v>
                </c:pt>
                <c:pt idx="3">
                  <c:v>9</c:v>
                </c:pt>
                <c:pt idx="4">
                  <c:v>16</c:v>
                </c:pt>
                <c:pt idx="5">
                  <c:v>14</c:v>
                </c:pt>
                <c:pt idx="6">
                  <c:v>15</c:v>
                </c:pt>
                <c:pt idx="7">
                  <c:v>17</c:v>
                </c:pt>
                <c:pt idx="8">
                  <c:v>15</c:v>
                </c:pt>
                <c:pt idx="9">
                  <c:v>14</c:v>
                </c:pt>
                <c:pt idx="10">
                  <c:v>10</c:v>
                </c:pt>
                <c:pt idx="11">
                  <c:v>6</c:v>
                </c:pt>
                <c:pt idx="12">
                  <c:v>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 b="1">
                <a:solidFill>
                  <a:srgbClr val="3A5566"/>
                </a:solidFill>
              </a:defRPr>
            </a:pPr>
            <a:r>
              <a:t>Office Permits by Year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Permits Issued</c:v>
                </c:pt>
              </c:strCache>
            </c:strRef>
          </c:tx>
          <c:spPr>
            <a:solidFill>
              <a:srgbClr val="1565C0"/>
            </a:solidFill>
          </c:spPr>
          <c:cat>
            <c:strRef>
              <c:f>Sheet1!$A$2:$A$21</c:f>
              <c:strCache>
                <c:ptCount val="20"/>
                <c:pt idx="0">
                  <c:v>2006</c:v>
                </c:pt>
                <c:pt idx="1">
                  <c:v>2007</c:v>
                </c:pt>
                <c:pt idx="2">
                  <c:v>2008</c:v>
                </c:pt>
                <c:pt idx="3">
                  <c:v>2009</c:v>
                </c:pt>
                <c:pt idx="4">
                  <c:v>2010</c:v>
                </c:pt>
                <c:pt idx="5">
                  <c:v>2011</c:v>
                </c:pt>
                <c:pt idx="6">
                  <c:v>2012</c:v>
                </c:pt>
                <c:pt idx="7">
                  <c:v>2013</c:v>
                </c:pt>
                <c:pt idx="8">
                  <c:v>2014</c:v>
                </c:pt>
                <c:pt idx="9">
                  <c:v>2015</c:v>
                </c:pt>
                <c:pt idx="10">
                  <c:v>2016</c:v>
                </c:pt>
                <c:pt idx="11">
                  <c:v>2017</c:v>
                </c:pt>
                <c:pt idx="12">
                  <c:v>2018</c:v>
                </c:pt>
                <c:pt idx="13">
                  <c:v>2019</c:v>
                </c:pt>
                <c:pt idx="14">
                  <c:v>2020</c:v>
                </c:pt>
                <c:pt idx="15">
                  <c:v>2021</c:v>
                </c:pt>
                <c:pt idx="16">
                  <c:v>2022</c:v>
                </c:pt>
                <c:pt idx="17">
                  <c:v>2023</c:v>
                </c:pt>
                <c:pt idx="18">
                  <c:v>2024</c:v>
                </c:pt>
                <c:pt idx="19">
                  <c:v>2025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166</c:v>
                </c:pt>
                <c:pt idx="1">
                  <c:v>502</c:v>
                </c:pt>
                <c:pt idx="2">
                  <c:v>400</c:v>
                </c:pt>
                <c:pt idx="3">
                  <c:v>307</c:v>
                </c:pt>
                <c:pt idx="4">
                  <c:v>406</c:v>
                </c:pt>
                <c:pt idx="5">
                  <c:v>353</c:v>
                </c:pt>
                <c:pt idx="6">
                  <c:v>379</c:v>
                </c:pt>
                <c:pt idx="7">
                  <c:v>391</c:v>
                </c:pt>
                <c:pt idx="8">
                  <c:v>450</c:v>
                </c:pt>
                <c:pt idx="9">
                  <c:v>539</c:v>
                </c:pt>
                <c:pt idx="10">
                  <c:v>508</c:v>
                </c:pt>
                <c:pt idx="11">
                  <c:v>471</c:v>
                </c:pt>
                <c:pt idx="12">
                  <c:v>489</c:v>
                </c:pt>
                <c:pt idx="13">
                  <c:v>494</c:v>
                </c:pt>
                <c:pt idx="14">
                  <c:v>429</c:v>
                </c:pt>
                <c:pt idx="15">
                  <c:v>381</c:v>
                </c:pt>
                <c:pt idx="16">
                  <c:v>506</c:v>
                </c:pt>
                <c:pt idx="17">
                  <c:v>369</c:v>
                </c:pt>
                <c:pt idx="18">
                  <c:v>361</c:v>
                </c:pt>
                <c:pt idx="19">
                  <c:v>366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 b="1">
                <a:solidFill>
                  <a:srgbClr val="3A5566"/>
                </a:solidFill>
              </a:defRPr>
            </a:pPr>
            <a:r>
              <a:t>Annual Construction Value ($ Millions)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Construction Value ($M)</c:v>
                </c:pt>
              </c:strCache>
            </c:strRef>
          </c:tx>
          <c:spPr>
            <a:solidFill>
              <a:srgbClr val="2E7D32"/>
            </a:solidFill>
          </c:spPr>
          <c:cat>
            <c:strRef>
              <c:f>Sheet1!$A$2:$A$21</c:f>
              <c:strCache>
                <c:ptCount val="20"/>
                <c:pt idx="0">
                  <c:v>2006</c:v>
                </c:pt>
                <c:pt idx="1">
                  <c:v>2007</c:v>
                </c:pt>
                <c:pt idx="2">
                  <c:v>2008</c:v>
                </c:pt>
                <c:pt idx="3">
                  <c:v>2009</c:v>
                </c:pt>
                <c:pt idx="4">
                  <c:v>2010</c:v>
                </c:pt>
                <c:pt idx="5">
                  <c:v>2011</c:v>
                </c:pt>
                <c:pt idx="6">
                  <c:v>2012</c:v>
                </c:pt>
                <c:pt idx="7">
                  <c:v>2013</c:v>
                </c:pt>
                <c:pt idx="8">
                  <c:v>2014</c:v>
                </c:pt>
                <c:pt idx="9">
                  <c:v>2015</c:v>
                </c:pt>
                <c:pt idx="10">
                  <c:v>2016</c:v>
                </c:pt>
                <c:pt idx="11">
                  <c:v>2017</c:v>
                </c:pt>
                <c:pt idx="12">
                  <c:v>2018</c:v>
                </c:pt>
                <c:pt idx="13">
                  <c:v>2019</c:v>
                </c:pt>
                <c:pt idx="14">
                  <c:v>2020</c:v>
                </c:pt>
                <c:pt idx="15">
                  <c:v>2021</c:v>
                </c:pt>
                <c:pt idx="16">
                  <c:v>2022</c:v>
                </c:pt>
                <c:pt idx="17">
                  <c:v>2023</c:v>
                </c:pt>
                <c:pt idx="18">
                  <c:v>2024</c:v>
                </c:pt>
                <c:pt idx="19">
                  <c:v>2025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28.60521696</c:v>
                </c:pt>
                <c:pt idx="1">
                  <c:v>186.75023897999998</c:v>
                </c:pt>
                <c:pt idx="2">
                  <c:v>30.16160137</c:v>
                </c:pt>
                <c:pt idx="3">
                  <c:v>27.32372482</c:v>
                </c:pt>
                <c:pt idx="4">
                  <c:v>42.90492372</c:v>
                </c:pt>
                <c:pt idx="5">
                  <c:v>126.18557049</c:v>
                </c:pt>
                <c:pt idx="6">
                  <c:v>86.78543437</c:v>
                </c:pt>
                <c:pt idx="7">
                  <c:v>164.5064612</c:v>
                </c:pt>
                <c:pt idx="8">
                  <c:v>197.76109091</c:v>
                </c:pt>
                <c:pt idx="9">
                  <c:v>347.60499228</c:v>
                </c:pt>
                <c:pt idx="10">
                  <c:v>341.49302592000004</c:v>
                </c:pt>
                <c:pt idx="11">
                  <c:v>410.41803824</c:v>
                </c:pt>
                <c:pt idx="12">
                  <c:v>531.0691792599999</c:v>
                </c:pt>
                <c:pt idx="13">
                  <c:v>445.02231673</c:v>
                </c:pt>
                <c:pt idx="14">
                  <c:v>474.50201591</c:v>
                </c:pt>
                <c:pt idx="15">
                  <c:v>185.26705004</c:v>
                </c:pt>
                <c:pt idx="16">
                  <c:v>597.25151863</c:v>
                </c:pt>
                <c:pt idx="17">
                  <c:v>332.03112558</c:v>
                </c:pt>
                <c:pt idx="18">
                  <c:v>233.15263121</c:v>
                </c:pt>
                <c:pt idx="19">
                  <c:v>380.02140068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jpg"/><Relationship Id="rId7" Type="http://schemas.openxmlformats.org/officeDocument/2006/relationships/image" Target="../media/image8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jpg"/><Relationship Id="rId4" Type="http://schemas.openxmlformats.org/officeDocument/2006/relationships/image" Target="../media/image11.jpg"/><Relationship Id="rId5" Type="http://schemas.openxmlformats.org/officeDocument/2006/relationships/image" Target="../media/image12.jpg"/><Relationship Id="rId6" Type="http://schemas.openxmlformats.org/officeDocument/2006/relationships/image" Target="../media/image13.jpg"/><Relationship Id="rId7" Type="http://schemas.openxmlformats.org/officeDocument/2006/relationships/image" Target="../media/image1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16.jpg"/><Relationship Id="rId4" Type="http://schemas.openxmlformats.org/officeDocument/2006/relationships/image" Target="../media/image17.jpg"/><Relationship Id="rId5" Type="http://schemas.openxmlformats.org/officeDocument/2006/relationships/image" Target="../media/image18.jpg"/><Relationship Id="rId6" Type="http://schemas.openxmlformats.org/officeDocument/2006/relationships/image" Target="../media/image19.jpg"/><Relationship Id="rId7" Type="http://schemas.openxmlformats.org/officeDocument/2006/relationships/image" Target="../media/image20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2.jpg"/><Relationship Id="rId4" Type="http://schemas.openxmlformats.org/officeDocument/2006/relationships/image" Target="../media/image23.jpg"/><Relationship Id="rId5" Type="http://schemas.openxmlformats.org/officeDocument/2006/relationships/image" Target="../media/image24.jpg"/><Relationship Id="rId6" Type="http://schemas.openxmlformats.org/officeDocument/2006/relationships/image" Target="../media/image25.jpg"/><Relationship Id="rId7" Type="http://schemas.openxmlformats.org/officeDocument/2006/relationships/image" Target="../media/image2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28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image" Target="../media/image30.jpg"/><Relationship Id="rId4" Type="http://schemas.openxmlformats.org/officeDocument/2006/relationships/image" Target="../media/image31.jpg"/><Relationship Id="rId5" Type="http://schemas.openxmlformats.org/officeDocument/2006/relationships/image" Target="../media/image32.jpg"/><Relationship Id="rId6" Type="http://schemas.openxmlformats.org/officeDocument/2006/relationships/image" Target="../media/image33.jpg"/><Relationship Id="rId7" Type="http://schemas.openxmlformats.org/officeDocument/2006/relationships/image" Target="../media/image3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image" Target="../media/image36.jpg"/><Relationship Id="rId4" Type="http://schemas.openxmlformats.org/officeDocument/2006/relationships/image" Target="../media/image37.jpg"/><Relationship Id="rId5" Type="http://schemas.openxmlformats.org/officeDocument/2006/relationships/image" Target="../media/image38.jpg"/><Relationship Id="rId6" Type="http://schemas.openxmlformats.org/officeDocument/2006/relationships/image" Target="../media/image39.jpg"/><Relationship Id="rId7" Type="http://schemas.openxmlformats.org/officeDocument/2006/relationships/image" Target="../media/image40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image" Target="../media/image4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3A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648 Grassmere Park — Comparable Sales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BB279"/>
                </a:solidFill>
              </a:defRPr>
            </a:pPr>
            <a:r>
              <a:t>Subject Property  |  Nashville, Davidson County, TN</a:t>
            </a:r>
          </a:p>
        </p:txBody>
      </p:sp>
      <p:pic>
        <p:nvPicPr>
          <p:cNvPr id="5" name="Picture 4" descr="rank0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4114800" cy="2743200"/>
          </a:xfrm>
          <a:prstGeom prst="rect">
            <a:avLst/>
          </a:prstGeom>
        </p:spPr>
      </p:pic>
      <p:pic>
        <p:nvPicPr>
          <p:cNvPr id="6" name="Picture 5" descr="rank0_sket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371600"/>
            <a:ext cx="3200400" cy="27432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503920" y="1371600"/>
            <a:ext cx="1645920" cy="118872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3A5566"/>
                </a:solidFill>
              </a:defRPr>
            </a:pPr>
            <a:r>
              <a:t>$25.9M</a:t>
            </a:r>
          </a:p>
          <a:p>
            <a:pPr algn="ctr">
              <a:defRPr sz="1000">
                <a:solidFill>
                  <a:srgbClr val="706F6C"/>
                </a:solidFill>
              </a:defRPr>
            </a:pPr>
            <a:r>
              <a:t>Sale Price</a:t>
            </a:r>
          </a:p>
        </p:txBody>
      </p:sp>
      <p:sp>
        <p:nvSpPr>
          <p:cNvPr id="8" name="Rectangle 7"/>
          <p:cNvSpPr/>
          <p:nvPr/>
        </p:nvSpPr>
        <p:spPr>
          <a:xfrm>
            <a:off x="10287000" y="1371600"/>
            <a:ext cx="1645920" cy="118872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3A5566"/>
                </a:solidFill>
              </a:defRPr>
            </a:pPr>
            <a:r>
              <a:t>$115.69</a:t>
            </a:r>
          </a:p>
          <a:p>
            <a:pPr algn="ctr">
              <a:defRPr sz="1000">
                <a:solidFill>
                  <a:srgbClr val="706F6C"/>
                </a:solidFill>
              </a:defRPr>
            </a:pPr>
            <a:r>
              <a:t>Per SF</a:t>
            </a:r>
          </a:p>
        </p:txBody>
      </p:sp>
      <p:sp>
        <p:nvSpPr>
          <p:cNvPr id="9" name="Rectangle 8"/>
          <p:cNvSpPr/>
          <p:nvPr/>
        </p:nvSpPr>
        <p:spPr>
          <a:xfrm>
            <a:off x="12070080" y="1371600"/>
            <a:ext cx="1645920" cy="118872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3A5566"/>
                </a:solidFill>
              </a:defRPr>
            </a:pPr>
            <a:r>
              <a:t>23.49 ac</a:t>
            </a:r>
          </a:p>
          <a:p>
            <a:pPr algn="ctr">
              <a:defRPr sz="1000">
                <a:solidFill>
                  <a:srgbClr val="706F6C"/>
                </a:solidFill>
              </a:defRPr>
            </a:pPr>
            <a:r>
              <a:t>Lot Size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853159" y="1371600"/>
            <a:ext cx="1645920" cy="118872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3A5566"/>
                </a:solidFill>
              </a:defRPr>
            </a:pPr>
            <a:r>
              <a:t>1985</a:t>
            </a:r>
          </a:p>
          <a:p>
            <a:pPr algn="ctr">
              <a:defRPr sz="1000">
                <a:solidFill>
                  <a:srgbClr val="706F6C"/>
                </a:solidFill>
              </a:defRPr>
            </a:pPr>
            <a:r>
              <a:t>Year Built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3891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A5566"/>
                </a:solidFill>
              </a:defRPr>
            </a:pPr>
            <a:r>
              <a:t>648 Grassmere Park, Nashville, TN 37211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7365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A5566"/>
                </a:solidFill>
              </a:defRPr>
            </a:pPr>
            <a:r>
              <a:t>Sale Price: $25,938,000  |  Price/SF: $115.69  |  Sold: 2015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08406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A5566"/>
                </a:solidFill>
              </a:defRPr>
            </a:pPr>
            <a:r>
              <a:t>Year Built: 1985  |  Acreage: 23.49 ac  |  Stories: 3  |  Zoning: IWD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431536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A5566"/>
                </a:solidFill>
              </a:defRPr>
            </a:pPr>
            <a:r>
              <a:t>Land Use: Office Building (3+ Stories)  |  Comp Score: 100/100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03920" y="2743200"/>
            <a:ext cx="1645920" cy="118872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3A5566"/>
                </a:solidFill>
              </a:defRPr>
            </a:pPr>
            <a:r>
              <a:t>3</a:t>
            </a:r>
          </a:p>
          <a:p>
            <a:pPr algn="ctr">
              <a:defRPr sz="1000">
                <a:solidFill>
                  <a:srgbClr val="706F6C"/>
                </a:solidFill>
              </a:defRPr>
            </a:pPr>
            <a:r>
              <a:t>Stories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287000" y="2743200"/>
            <a:ext cx="1645920" cy="118872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3A5566"/>
                </a:solidFill>
              </a:defRPr>
            </a:pPr>
            <a:r>
              <a:t>IWD</a:t>
            </a:r>
          </a:p>
          <a:p>
            <a:pPr algn="ctr">
              <a:defRPr sz="1000">
                <a:solidFill>
                  <a:srgbClr val="706F6C"/>
                </a:solidFill>
              </a:defRPr>
            </a:pPr>
            <a:r>
              <a:t>Zoning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070080" y="2743200"/>
            <a:ext cx="1645920" cy="118872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3A5566"/>
                </a:solidFill>
              </a:defRPr>
            </a:pPr>
            <a:r>
              <a:t>100</a:t>
            </a:r>
          </a:p>
          <a:p>
            <a:pPr algn="ctr">
              <a:defRPr sz="1000">
                <a:solidFill>
                  <a:srgbClr val="706F6C"/>
                </a:solidFill>
              </a:defRPr>
            </a:pPr>
            <a:r>
              <a:t>Comp Score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3A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Comparable Sales Map — Davidson County, Nashville, TN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CBB279"/>
                </a:solidFill>
              </a:defRPr>
            </a:pPr>
            <a:r>
              <a:t>648 Grassmere Park  |  20 Comparable Properties  |  Interactive Map: nataliebaldacci.github.io/RE_Final_Case</a:t>
            </a:r>
          </a:p>
        </p:txBody>
      </p:sp>
      <p:pic>
        <p:nvPicPr>
          <p:cNvPr id="5" name="Picture 4" descr="map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60120"/>
            <a:ext cx="11643055" cy="5715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3A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Tier 1 — Best Comparables — #1, #2, #3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B279"/>
                </a:solidFill>
              </a:defRPr>
            </a:pPr>
            <a:r>
              <a:t>Scores: 90-95/100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457200" cy="3657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636 Grassmere Park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95/100</a:t>
            </a:r>
          </a:p>
        </p:txBody>
      </p:sp>
      <p:pic>
        <p:nvPicPr>
          <p:cNvPr id="9" name="Picture 8" descr="rank1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3393338" cy="1920240"/>
          </a:xfrm>
          <a:prstGeom prst="rect">
            <a:avLst/>
          </a:prstGeom>
        </p:spPr>
      </p:pic>
      <p:pic>
        <p:nvPicPr>
          <p:cNvPr id="10" name="Picture 9" descr="rank1_sket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611879"/>
            <a:ext cx="3393338" cy="1463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$15,000,000  (2022)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$236.32/SF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1985  |  6.02 ac  |  1 stories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IWD  |  Office (1-2 Stories)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63,474 SF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16298" y="1051560"/>
            <a:ext cx="457200" cy="3657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4938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200 Athens Way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4938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93/100</a:t>
            </a:r>
          </a:p>
        </p:txBody>
      </p:sp>
      <p:pic>
        <p:nvPicPr>
          <p:cNvPr id="19" name="Picture 18" descr="rank2_phot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6298" y="1600200"/>
            <a:ext cx="3393338" cy="1920240"/>
          </a:xfrm>
          <a:prstGeom prst="rect">
            <a:avLst/>
          </a:prstGeom>
        </p:spPr>
      </p:pic>
      <p:pic>
        <p:nvPicPr>
          <p:cNvPr id="20" name="Picture 19" descr="rank2_sketch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16298" y="3611879"/>
            <a:ext cx="3393338" cy="14630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216298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$36,000,000  (2019)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16298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$146.25/SF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16298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1985  |  8.70 ac  |  8 stories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16298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IWD  |  Office (3+ Stories)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16298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N/A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75396" y="1051560"/>
            <a:ext cx="457200" cy="3657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24036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210 Athens Way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24036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90/100</a:t>
            </a:r>
          </a:p>
        </p:txBody>
      </p:sp>
      <p:pic>
        <p:nvPicPr>
          <p:cNvPr id="29" name="Picture 28" descr="rank3_photo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75396" y="1600200"/>
            <a:ext cx="3393338" cy="1920240"/>
          </a:xfrm>
          <a:prstGeom prst="rect">
            <a:avLst/>
          </a:prstGeom>
        </p:spPr>
      </p:pic>
      <p:pic>
        <p:nvPicPr>
          <p:cNvPr id="30" name="Picture 29" descr="rank3_sketch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75396" y="3611879"/>
            <a:ext cx="3393338" cy="146304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975396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$32,250,000  (2022)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75396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$203.39/SF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75396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1985  |  10.01 ac  |  5 stories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75396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MUG-NS  |  Office (3+ Stories)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75396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N/A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3A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Tier 1 — Best Comparables — #4, #5, #6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B279"/>
                </a:solidFill>
              </a:defRPr>
            </a:pPr>
            <a:r>
              <a:t>Scores: 85-89/100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457200" cy="3657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227 French Landing Dr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89/100</a:t>
            </a:r>
          </a:p>
        </p:txBody>
      </p:sp>
      <p:pic>
        <p:nvPicPr>
          <p:cNvPr id="9" name="Picture 8" descr="rank4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3393338" cy="1920240"/>
          </a:xfrm>
          <a:prstGeom prst="rect">
            <a:avLst/>
          </a:prstGeom>
        </p:spPr>
      </p:pic>
      <p:pic>
        <p:nvPicPr>
          <p:cNvPr id="10" name="Picture 9" descr="rank4_sket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611879"/>
            <a:ext cx="3393338" cy="1463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$22,350,000  (2019)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$201.50/SF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1984  |  4.93 ac  |  5 stories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IWD  |  Office (3+ Stories)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N/A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16298" y="1051560"/>
            <a:ext cx="457200" cy="3657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4938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501 Great Circle 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4938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88/100</a:t>
            </a:r>
          </a:p>
        </p:txBody>
      </p:sp>
      <p:pic>
        <p:nvPicPr>
          <p:cNvPr id="19" name="Picture 18" descr="rank5_phot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6298" y="1600200"/>
            <a:ext cx="3393338" cy="1920240"/>
          </a:xfrm>
          <a:prstGeom prst="rect">
            <a:avLst/>
          </a:prstGeom>
        </p:spPr>
      </p:pic>
      <p:pic>
        <p:nvPicPr>
          <p:cNvPr id="20" name="Picture 19" descr="rank5_sketch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16298" y="3611879"/>
            <a:ext cx="3393338" cy="14630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216298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$18,000,000  (2019)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16298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$143.08/SF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16298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1985  |  6.22 ac  |  3 stories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16298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IWD  |  Office (3+ Stories)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16298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71,916 SF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75396" y="1051560"/>
            <a:ext cx="457200" cy="3657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24036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215 Cumberland Bnd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24036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85/100</a:t>
            </a:r>
          </a:p>
        </p:txBody>
      </p:sp>
      <p:pic>
        <p:nvPicPr>
          <p:cNvPr id="29" name="Picture 28" descr="rank6_photo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75396" y="1600200"/>
            <a:ext cx="3393338" cy="1920240"/>
          </a:xfrm>
          <a:prstGeom prst="rect">
            <a:avLst/>
          </a:prstGeom>
        </p:spPr>
      </p:pic>
      <p:pic>
        <p:nvPicPr>
          <p:cNvPr id="30" name="Picture 29" descr="rank6_sketch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75396" y="3611879"/>
            <a:ext cx="3393338" cy="146304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975396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$10,850,000  (2020)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75396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$107.29/SF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75396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1980  |  8.20 ac  |  2 stories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75396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IWD  |  Office (1-2 Stories)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75396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N/A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3A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Tier 2 — Good Comparables — #7, #8, #9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B279"/>
                </a:solidFill>
              </a:defRPr>
            </a:pPr>
            <a:r>
              <a:t>Scores: 80-82/100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457200" cy="365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545 Marriott Dr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82/100</a:t>
            </a:r>
          </a:p>
        </p:txBody>
      </p:sp>
      <p:pic>
        <p:nvPicPr>
          <p:cNvPr id="9" name="Picture 8" descr="rank7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3393338" cy="1920240"/>
          </a:xfrm>
          <a:prstGeom prst="rect">
            <a:avLst/>
          </a:prstGeom>
        </p:spPr>
      </p:pic>
      <p:pic>
        <p:nvPicPr>
          <p:cNvPr id="10" name="Picture 9" descr="rank7_sket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611879"/>
            <a:ext cx="3393338" cy="1463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$85,500,000  (2019)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$324.59/SF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1986  |  8.60 ac  |  8 stories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ORI  |  Office (3+ Stories)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N/A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16298" y="1051560"/>
            <a:ext cx="457200" cy="365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4938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621 Mainstream Dr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4938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80/100</a:t>
            </a:r>
          </a:p>
        </p:txBody>
      </p:sp>
      <p:pic>
        <p:nvPicPr>
          <p:cNvPr id="19" name="Picture 18" descr="rank8_phot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6298" y="1600200"/>
            <a:ext cx="3393338" cy="1920240"/>
          </a:xfrm>
          <a:prstGeom prst="rect">
            <a:avLst/>
          </a:prstGeom>
        </p:spPr>
      </p:pic>
      <p:pic>
        <p:nvPicPr>
          <p:cNvPr id="20" name="Picture 19" descr="rank8_sketch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16298" y="3611879"/>
            <a:ext cx="3393338" cy="14630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216298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$16,150,000  (2023)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16298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$305.19/SF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16298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1984  |  7.18 ac  |  1 stories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16298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IWD  |  Office (1-2 Stories)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16298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52,917 SF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75396" y="1051560"/>
            <a:ext cx="457200" cy="365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24036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601 Mainstream Dr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24036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80/100</a:t>
            </a:r>
          </a:p>
        </p:txBody>
      </p:sp>
      <p:pic>
        <p:nvPicPr>
          <p:cNvPr id="29" name="Picture 28" descr="rank9_photo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75396" y="1600200"/>
            <a:ext cx="3393338" cy="1920240"/>
          </a:xfrm>
          <a:prstGeom prst="rect">
            <a:avLst/>
          </a:prstGeom>
        </p:spPr>
      </p:pic>
      <p:pic>
        <p:nvPicPr>
          <p:cNvPr id="30" name="Picture 29" descr="rank9_sketch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75396" y="3611879"/>
            <a:ext cx="3393338" cy="146304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975396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$13,100,000  (2025)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75396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$247.56/SF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75396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1984  |  7.18 ac  |  1 stories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75396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IWD  |  Office (1-2 Stories)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75396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52,917 SF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3A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Tier 2 — Good Comparables — #10, #11, #12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B279"/>
                </a:solidFill>
              </a:defRPr>
            </a:pPr>
            <a:r>
              <a:t>Scores: 76-78/100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457200" cy="365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616 Marriott Dr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78/100</a:t>
            </a:r>
          </a:p>
        </p:txBody>
      </p:sp>
      <p:pic>
        <p:nvPicPr>
          <p:cNvPr id="9" name="Picture 8" descr="rank10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3393338" cy="1920240"/>
          </a:xfrm>
          <a:prstGeom prst="rect">
            <a:avLst/>
          </a:prstGeom>
        </p:spPr>
      </p:pic>
      <p:pic>
        <p:nvPicPr>
          <p:cNvPr id="10" name="Picture 9" descr="rank10_sket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611879"/>
            <a:ext cx="3393338" cy="1463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$13,030,000  (2018)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$155.66/SF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1985  |  3.74 ac  |  6 stories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ORI  |  Office (3+ Stories)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83,708 SF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16298" y="1051560"/>
            <a:ext cx="457200" cy="365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4938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25 Century Blvd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4938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77/100</a:t>
            </a:r>
          </a:p>
        </p:txBody>
      </p:sp>
      <p:pic>
        <p:nvPicPr>
          <p:cNvPr id="19" name="Picture 18" descr="rank11_phot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6298" y="1600200"/>
            <a:ext cx="3393338" cy="1920240"/>
          </a:xfrm>
          <a:prstGeom prst="rect">
            <a:avLst/>
          </a:prstGeom>
        </p:spPr>
      </p:pic>
      <p:pic>
        <p:nvPicPr>
          <p:cNvPr id="20" name="Picture 19" descr="rank11_sketch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16298" y="3611879"/>
            <a:ext cx="3393338" cy="14630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216298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$30,000,000  (2025)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16298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$228.93/SF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16298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1986  |  6.85 ac  |  6 stories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16298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ORI  |  Office (3+ Stories)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16298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N/A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75396" y="1051560"/>
            <a:ext cx="457200" cy="365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24036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1 Burton Hills Blvd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24036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76/100</a:t>
            </a:r>
          </a:p>
        </p:txBody>
      </p:sp>
      <p:pic>
        <p:nvPicPr>
          <p:cNvPr id="29" name="Picture 28" descr="rank12_photo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75396" y="1600200"/>
            <a:ext cx="3393338" cy="1920240"/>
          </a:xfrm>
          <a:prstGeom prst="rect">
            <a:avLst/>
          </a:prstGeom>
        </p:spPr>
      </p:pic>
      <p:pic>
        <p:nvPicPr>
          <p:cNvPr id="30" name="Picture 29" descr="rank12_sketch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75396" y="3611879"/>
            <a:ext cx="3393338" cy="146304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975396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$12,000,000  (2025)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75396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$98.39/SF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75396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1985  |  7.07 ac  |  3 stories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75396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SP  |  Office (3+ Stories)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75396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N/A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3A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Tier 2 — Good Comparables — #13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B279"/>
                </a:solidFill>
              </a:defRPr>
            </a:pPr>
            <a:r>
              <a:t>Scores: 75-75/100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457200" cy="365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05156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104 Woodmont Blvd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307592"/>
            <a:ext cx="1054577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75/100</a:t>
            </a:r>
          </a:p>
        </p:txBody>
      </p:sp>
      <p:pic>
        <p:nvPicPr>
          <p:cNvPr id="9" name="Picture 8" descr="rank13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10911535" cy="1920240"/>
          </a:xfrm>
          <a:prstGeom prst="rect">
            <a:avLst/>
          </a:prstGeom>
        </p:spPr>
      </p:pic>
      <p:pic>
        <p:nvPicPr>
          <p:cNvPr id="10" name="Picture 9" descr="rank13_sket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611879"/>
            <a:ext cx="10911535" cy="1463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212079"/>
            <a:ext cx="1091153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$50,970,857  (2025)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40679"/>
            <a:ext cx="1091153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$140.77/SF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669279"/>
            <a:ext cx="1091153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1985  |  2.40 ac  |  8 stories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97879"/>
            <a:ext cx="1091153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OR20  |  Office (3+ Stories)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126479"/>
            <a:ext cx="1091153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N/A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3A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Tier 3 — Supporting Comparables — #14, #15, #16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B279"/>
                </a:solidFill>
              </a:defRPr>
            </a:pPr>
            <a:r>
              <a:t>Scores: 68-72/100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457200" cy="3657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1321 Murfreesboro Pike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72/100</a:t>
            </a:r>
          </a:p>
        </p:txBody>
      </p:sp>
      <p:pic>
        <p:nvPicPr>
          <p:cNvPr id="9" name="Picture 8" descr="rank14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3393338" cy="1920240"/>
          </a:xfrm>
          <a:prstGeom prst="rect">
            <a:avLst/>
          </a:prstGeom>
        </p:spPr>
      </p:pic>
      <p:pic>
        <p:nvPicPr>
          <p:cNvPr id="10" name="Picture 9" descr="rank14_sket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611879"/>
            <a:ext cx="3393338" cy="1463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$18,500,000  (2021)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$97.45/SF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1987  |  5.30 ac  |  8 stories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CL  |  Office (3+ Stories)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N/A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16298" y="1051560"/>
            <a:ext cx="457200" cy="3657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4938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5880 Nolensville Pike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4938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70/100</a:t>
            </a:r>
          </a:p>
        </p:txBody>
      </p:sp>
      <p:pic>
        <p:nvPicPr>
          <p:cNvPr id="19" name="Picture 18" descr="rank15_phot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6298" y="1600200"/>
            <a:ext cx="3393338" cy="1920240"/>
          </a:xfrm>
          <a:prstGeom prst="rect">
            <a:avLst/>
          </a:prstGeom>
        </p:spPr>
      </p:pic>
      <p:pic>
        <p:nvPicPr>
          <p:cNvPr id="20" name="Picture 19" descr="rank15_sketch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16298" y="3611879"/>
            <a:ext cx="3393338" cy="14630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216298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$17,000,000  (2019)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16298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$184.04/SF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16298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1989  |  13.80 ac  |  2 stories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16298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R10  |  Office (1-2 Stories)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16298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92,370 SF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75396" y="1051560"/>
            <a:ext cx="457200" cy="3657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#16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24036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490 Metroplex Dr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24036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68/100</a:t>
            </a:r>
          </a:p>
        </p:txBody>
      </p:sp>
      <p:pic>
        <p:nvPicPr>
          <p:cNvPr id="29" name="Picture 28" descr="rank16_photo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75396" y="1600200"/>
            <a:ext cx="3393338" cy="1920240"/>
          </a:xfrm>
          <a:prstGeom prst="rect">
            <a:avLst/>
          </a:prstGeom>
        </p:spPr>
      </p:pic>
      <p:pic>
        <p:nvPicPr>
          <p:cNvPr id="30" name="Picture 29" descr="rank16_sketch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75396" y="3611879"/>
            <a:ext cx="3393338" cy="146304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975396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$11,000,000  (2024)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75396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$129.99/SF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75396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1986  |  4.68 ac  |  2 stories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75396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CS  |  Office (1-2 Stories)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75396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84,620 SF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3A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Tier 3 — Supporting Comparables — #17, #18, #19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B279"/>
                </a:solidFill>
              </a:defRPr>
            </a:pPr>
            <a:r>
              <a:t>Scores: 60-65/100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457200" cy="3657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750 Old Hickory Blvd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65/100</a:t>
            </a:r>
          </a:p>
        </p:txBody>
      </p:sp>
      <p:pic>
        <p:nvPicPr>
          <p:cNvPr id="9" name="Picture 8" descr="rank17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3393338" cy="1920240"/>
          </a:xfrm>
          <a:prstGeom prst="rect">
            <a:avLst/>
          </a:prstGeom>
        </p:spPr>
      </p:pic>
      <p:pic>
        <p:nvPicPr>
          <p:cNvPr id="10" name="Picture 9" descr="rank17_sket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611879"/>
            <a:ext cx="3393338" cy="1463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$88,300,000  (2025)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$102.42/SF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1983  |  14.50 ac  |  2 stories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OL  |  Office (1-2 Stories)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99,550 SF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16298" y="1051560"/>
            <a:ext cx="457200" cy="3657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4938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100 Centerview Dr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4938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63/100</a:t>
            </a:r>
          </a:p>
        </p:txBody>
      </p:sp>
      <p:pic>
        <p:nvPicPr>
          <p:cNvPr id="19" name="Picture 18" descr="rank18_phot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6298" y="1600200"/>
            <a:ext cx="3393338" cy="1920240"/>
          </a:xfrm>
          <a:prstGeom prst="rect">
            <a:avLst/>
          </a:prstGeom>
        </p:spPr>
      </p:pic>
      <p:pic>
        <p:nvPicPr>
          <p:cNvPr id="20" name="Picture 19" descr="rank18_sketch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16298" y="3611879"/>
            <a:ext cx="3393338" cy="14630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216298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$19,500,000  (2025)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16298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$78.45/SF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16298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1984  |  25.36 ac  |  3 stories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16298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OL  |  Office (3+ Stories)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16298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N/A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75396" y="1051560"/>
            <a:ext cx="457200" cy="3657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#19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24036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1000 Northchase Dr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24036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60/100</a:t>
            </a:r>
          </a:p>
        </p:txBody>
      </p:sp>
      <p:pic>
        <p:nvPicPr>
          <p:cNvPr id="29" name="Picture 28" descr="rank19_photo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75396" y="1600200"/>
            <a:ext cx="3393338" cy="1920240"/>
          </a:xfrm>
          <a:prstGeom prst="rect">
            <a:avLst/>
          </a:prstGeom>
        </p:spPr>
      </p:pic>
      <p:pic>
        <p:nvPicPr>
          <p:cNvPr id="30" name="Picture 29" descr="rank19_sketch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75396" y="3611879"/>
            <a:ext cx="3393338" cy="146304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975396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$8,350,000  (2026)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75396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$152.30/SF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75396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1988  |  3.18 ac  |  3 stories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75396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6ZZ  |  Office (3+ Stories)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75396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54,826 SF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3A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Tier 3 — Supporting Comparables — #20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B279"/>
                </a:solidFill>
              </a:defRPr>
            </a:pPr>
            <a:r>
              <a:t>Scores: 58-58/100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457200" cy="3657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05156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3343 Perimeter Hill Dr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307592"/>
            <a:ext cx="1054577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58/100</a:t>
            </a:r>
          </a:p>
        </p:txBody>
      </p:sp>
      <p:pic>
        <p:nvPicPr>
          <p:cNvPr id="9" name="Picture 8" descr="rank20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10911535" cy="1920240"/>
          </a:xfrm>
          <a:prstGeom prst="rect">
            <a:avLst/>
          </a:prstGeom>
        </p:spPr>
      </p:pic>
      <p:pic>
        <p:nvPicPr>
          <p:cNvPr id="10" name="Picture 9" descr="rank20_sket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611879"/>
            <a:ext cx="10911535" cy="1463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212079"/>
            <a:ext cx="1091153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$5,254,600  (2018)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40679"/>
            <a:ext cx="1091153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$71.64/SF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669279"/>
            <a:ext cx="1091153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1985  |  3.58 ac  |  3 stories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97879"/>
            <a:ext cx="1091153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CS  |  Office (1-2 Stories)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126479"/>
            <a:ext cx="1091153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73,352 SF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55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FFFFFF"/>
                </a:solidFill>
              </a:defRPr>
            </a:pPr>
            <a:r>
              <a:t>Comparable Sales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BB279"/>
                </a:solidFill>
              </a:defRPr>
            </a:pPr>
            <a:r>
              <a:t>648 Grassmere Park  |  20 Comparable Properties  |  Davidson County, TN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CBB279"/>
                </a:solidFill>
              </a:defRPr>
            </a:pPr>
            <a:r>
              <a:t>Tier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164592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CBB279"/>
                </a:solidFill>
              </a:defRPr>
            </a:pPr>
            <a:r>
              <a:t>Count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6459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CBB279"/>
                </a:solidFill>
              </a:defRPr>
            </a:pPr>
            <a:r>
              <a:t>Price Range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16459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CBB279"/>
                </a:solidFill>
              </a:defRPr>
            </a:pPr>
            <a:r>
              <a:t>Avg $/SF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1645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CBB279"/>
                </a:solidFill>
              </a:defRPr>
            </a:pPr>
            <a:r>
              <a:t>Score Range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2011680"/>
            <a:ext cx="9601200" cy="27432"/>
          </a:xfrm>
          <a:prstGeom prst="rect">
            <a:avLst/>
          </a:prstGeom>
          <a:solidFill>
            <a:srgbClr val="CBB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097280" y="2377440"/>
            <a:ext cx="182880" cy="182880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371600" y="22860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Subject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2860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2860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$25,938,000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22860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$115.69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22860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100</a:t>
            </a:r>
          </a:p>
        </p:txBody>
      </p:sp>
      <p:sp>
        <p:nvSpPr>
          <p:cNvPr id="16" name="Oval 15"/>
          <p:cNvSpPr/>
          <p:nvPr/>
        </p:nvSpPr>
        <p:spPr>
          <a:xfrm>
            <a:off x="1097280" y="2880360"/>
            <a:ext cx="182880" cy="182880"/>
          </a:xfrm>
          <a:prstGeom prst="ellipse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71600" y="27889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Tier 1 — Best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278892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7889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$10.9M - $36.0M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27889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$107 - $236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2788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85-95</a:t>
            </a:r>
          </a:p>
        </p:txBody>
      </p:sp>
      <p:sp>
        <p:nvSpPr>
          <p:cNvPr id="22" name="Oval 21"/>
          <p:cNvSpPr/>
          <p:nvPr/>
        </p:nvSpPr>
        <p:spPr>
          <a:xfrm>
            <a:off x="1097280" y="3383279"/>
            <a:ext cx="182880" cy="18288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371600" y="3291839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Tier 2 — Good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3291839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329183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$12.0M - $85.5M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3291839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$98 - $325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3291839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75-82</a:t>
            </a:r>
          </a:p>
        </p:txBody>
      </p:sp>
      <p:sp>
        <p:nvSpPr>
          <p:cNvPr id="28" name="Oval 27"/>
          <p:cNvSpPr/>
          <p:nvPr/>
        </p:nvSpPr>
        <p:spPr>
          <a:xfrm>
            <a:off x="1097280" y="3886199"/>
            <a:ext cx="182880" cy="182880"/>
          </a:xfrm>
          <a:prstGeom prst="ellipse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371600" y="3794759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Tier 3 — Supporting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3794759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379475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$5.3M - $88.3M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3794759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$72 - $184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0" y="3794759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58-72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3A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Board of Zoning Appeals — Case History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B279"/>
                </a:solidFill>
              </a:defRPr>
            </a:pPr>
            <a:r>
              <a:t>Davidson County, Nashville, TN  |  325 Total Cases (2006-2018)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828800" cy="109728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3A5566"/>
                </a:solidFill>
              </a:defRPr>
            </a:pPr>
            <a:r>
              <a:t>325</a:t>
            </a:r>
          </a:p>
          <a:p>
            <a:pPr algn="ctr">
              <a:defRPr sz="1000">
                <a:solidFill>
                  <a:srgbClr val="706F6C"/>
                </a:solidFill>
              </a:defRPr>
            </a:pPr>
            <a:r>
              <a:t>Total BZA Cases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468880" y="1051560"/>
            <a:ext cx="1828800" cy="109728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E65100"/>
                </a:solidFill>
              </a:defRPr>
            </a:pPr>
            <a:r>
              <a:t>223</a:t>
            </a:r>
          </a:p>
          <a:p>
            <a:pPr algn="ctr">
              <a:defRPr sz="1000">
                <a:solidFill>
                  <a:srgbClr val="706F6C"/>
                </a:solidFill>
              </a:defRPr>
            </a:pPr>
            <a:r>
              <a:t>Expired</a:t>
            </a:r>
          </a:p>
        </p:txBody>
      </p:sp>
      <p:sp>
        <p:nvSpPr>
          <p:cNvPr id="7" name="Rectangle 6"/>
          <p:cNvSpPr/>
          <p:nvPr/>
        </p:nvSpPr>
        <p:spPr>
          <a:xfrm>
            <a:off x="4480560" y="1051560"/>
            <a:ext cx="1828800" cy="109728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2E7D32"/>
                </a:solidFill>
              </a:defRPr>
            </a:pPr>
            <a:r>
              <a:t>70</a:t>
            </a:r>
          </a:p>
          <a:p>
            <a:pPr algn="ctr">
              <a:defRPr sz="1000">
                <a:solidFill>
                  <a:srgbClr val="706F6C"/>
                </a:solidFill>
              </a:defRPr>
            </a:pPr>
            <a:r>
              <a:t>Completed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6492240" y="1051560"/>
            <a:ext cx="1828800" cy="109728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706F6C"/>
                </a:solidFill>
              </a:defRPr>
            </a:pPr>
            <a:r>
              <a:t>24</a:t>
            </a:r>
          </a:p>
          <a:p>
            <a:pPr algn="ctr">
              <a:defRPr sz="1000">
                <a:solidFill>
                  <a:srgbClr val="706F6C"/>
                </a:solidFill>
              </a:defRPr>
            </a:pPr>
            <a:r>
              <a:t>Withdrawn</a:t>
            </a:r>
          </a:p>
        </p:txBody>
      </p:sp>
      <p:sp>
        <p:nvSpPr>
          <p:cNvPr id="9" name="Rectangle 8"/>
          <p:cNvSpPr/>
          <p:nvPr/>
        </p:nvSpPr>
        <p:spPr>
          <a:xfrm>
            <a:off x="8503920" y="1051560"/>
            <a:ext cx="1828800" cy="109728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3A5566"/>
                </a:solidFill>
              </a:defRPr>
            </a:pPr>
            <a:r>
              <a:t>5</a:t>
            </a:r>
          </a:p>
          <a:p>
            <a:pPr algn="ctr">
              <a:defRPr sz="1000">
                <a:solidFill>
                  <a:srgbClr val="706F6C"/>
                </a:solidFill>
              </a:defRPr>
            </a:pPr>
            <a:r>
              <a:t>Approved to Pay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515600" y="1051560"/>
            <a:ext cx="1371600" cy="109728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1565C0"/>
                </a:solidFill>
              </a:defRPr>
            </a:pPr>
            <a:r>
              <a:t>1</a:t>
            </a:r>
          </a:p>
          <a:p>
            <a:pPr algn="ctr">
              <a:defRPr sz="1000">
                <a:solidFill>
                  <a:srgbClr val="706F6C"/>
                </a:solidFill>
              </a:defRPr>
            </a:pPr>
            <a:r>
              <a:t>Granted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57200" y="2377440"/>
          <a:ext cx="68580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772400" y="23774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A5566"/>
                </a:solidFill>
              </a:defRPr>
            </a:pPr>
            <a:r>
              <a:t>Top Case Subtypes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706F6C"/>
                </a:solidFill>
              </a:defRPr>
            </a:pPr>
            <a:r>
              <a:t>Case Subtype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28346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706F6C"/>
                </a:solidFill>
              </a:defRPr>
            </a:pPr>
            <a:r>
              <a:t>Count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315468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Zoning Board Appeal / Religious Institution, ...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315468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A5566"/>
                </a:solidFill>
              </a:defRPr>
            </a:pPr>
            <a:r>
              <a:t>33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345643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Zoning Board Appeal / Day Care Home, Single F...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345643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A5566"/>
                </a:solidFill>
              </a:defRPr>
            </a:pPr>
            <a:r>
              <a:t>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3758184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Zoning Board Appeal / Zoning Appeal...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375818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A5566"/>
                </a:solidFill>
              </a:defRPr>
            </a:pPr>
            <a: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405993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Zoning Board Appeal / Kennel / Stable, Kennel...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405993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A5566"/>
                </a:solidFill>
              </a:defRPr>
            </a:pPr>
            <a: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43616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Zoning Board Appeal / Day Care Center (Up To ...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436168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A5566"/>
                </a:solidFill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466344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Zoning Board Appeal / Master Permit Applicati...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46634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A5566"/>
                </a:solidFill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0" y="496519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Zoning Board Appeal / Religious Institution, ...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496519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A5566"/>
                </a:solidFill>
              </a:defRPr>
            </a:pPr>
            <a: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5266944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A5566"/>
                </a:solidFill>
              </a:defRPr>
            </a:pPr>
            <a:r>
              <a:t>Zoning Board Appeal / Multifamily, Condominiu...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526694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A5566"/>
                </a:solidFill>
              </a:defRPr>
            </a:pPr>
            <a: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5843016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A5566"/>
                </a:solidFill>
              </a:defRPr>
            </a:pPr>
            <a:r>
              <a:t>Status Breakdown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0" y="6208776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A5566"/>
                </a:solidFill>
              </a:defRPr>
            </a:pPr>
            <a:r>
              <a:t>EXPIRED: 223 (69%)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6464808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A5566"/>
                </a:solidFill>
              </a:defRPr>
            </a:pPr>
            <a:r>
              <a:t>Done: 70 (22%)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6720840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A5566"/>
                </a:solidFill>
              </a:defRPr>
            </a:pPr>
            <a:r>
              <a:t>Withdrawn: 24 (7%)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6976872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A5566"/>
                </a:solidFill>
              </a:defRPr>
            </a:pPr>
            <a:r>
              <a:t>OK to Pay Permit Fee: 5 (2%)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7232904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A5566"/>
                </a:solidFill>
              </a:defRPr>
            </a:pPr>
            <a:r>
              <a:t>Cancelled: 1 (0%)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7488936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A5566"/>
                </a:solidFill>
              </a:defRPr>
            </a:pPr>
            <a:r>
              <a:t>Payment was refunded/permit cancelled: 1 (0%)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7744968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A5566"/>
                </a:solidFill>
              </a:defRPr>
            </a:pPr>
            <a:r>
              <a:t>GRANTED: 1 (0%)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3A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Office Building Permit History — Davidson County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B279"/>
                </a:solidFill>
              </a:defRPr>
            </a:pPr>
            <a:r>
              <a:t>General Office, Professional Services  |  8,291 Total Permits (2006-2025)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2103120" cy="109728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3A5566"/>
                </a:solidFill>
              </a:defRPr>
            </a:pPr>
            <a:r>
              <a:t>8,291</a:t>
            </a:r>
          </a:p>
          <a:p>
            <a:pPr algn="ctr">
              <a:defRPr sz="1000">
                <a:solidFill>
                  <a:srgbClr val="706F6C"/>
                </a:solidFill>
              </a:defRPr>
            </a:pPr>
            <a:r>
              <a:t>Total Permits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1051560"/>
            <a:ext cx="2103120" cy="109728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2E7D32"/>
                </a:solidFill>
              </a:defRPr>
            </a:pPr>
            <a:r>
              <a:t>$5.17B</a:t>
            </a:r>
          </a:p>
          <a:p>
            <a:pPr algn="ctr">
              <a:defRPr sz="1000">
                <a:solidFill>
                  <a:srgbClr val="706F6C"/>
                </a:solidFill>
              </a:defRPr>
            </a:pPr>
            <a:r>
              <a:t>Total Const. Value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0" y="1051560"/>
            <a:ext cx="2103120" cy="109728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3A5566"/>
                </a:solidFill>
              </a:defRPr>
            </a:pPr>
            <a:r>
              <a:t>$894K</a:t>
            </a:r>
          </a:p>
          <a:p>
            <a:pPr algn="ctr">
              <a:defRPr sz="1000">
                <a:solidFill>
                  <a:srgbClr val="706F6C"/>
                </a:solidFill>
              </a:defRPr>
            </a:pPr>
            <a:r>
              <a:t>Avg Const. Value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0" y="1051560"/>
            <a:ext cx="2103120" cy="109728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1565C0"/>
                </a:solidFill>
              </a:defRPr>
            </a:pPr>
            <a:r>
              <a:t>6,475</a:t>
            </a:r>
          </a:p>
          <a:p>
            <a:pPr algn="ctr">
              <a:defRPr sz="1000">
                <a:solidFill>
                  <a:srgbClr val="706F6C"/>
                </a:solidFill>
              </a:defRPr>
            </a:pPr>
            <a:r>
              <a:t>Completed (78%)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200" y="1051560"/>
            <a:ext cx="2103120" cy="109728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E65100"/>
                </a:solidFill>
              </a:defRPr>
            </a:pPr>
            <a:r>
              <a:t>1,447</a:t>
            </a:r>
          </a:p>
          <a:p>
            <a:pPr algn="ctr">
              <a:defRPr sz="1000">
                <a:solidFill>
                  <a:srgbClr val="706F6C"/>
                </a:solidFill>
              </a:defRPr>
            </a:pPr>
            <a:r>
              <a:t>Expired (17%)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57200" y="2377440"/>
          <a:ext cx="68580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772400" y="23774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A5566"/>
                </a:solidFill>
              </a:defRPr>
            </a:pPr>
            <a:r>
              <a:t>Permit Type Breakdown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8346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706F6C"/>
                </a:solidFill>
              </a:defRPr>
            </a:pPr>
            <a:r>
              <a:t>Type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28346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706F6C"/>
                </a:solidFill>
              </a:defRPr>
            </a:pPr>
            <a:r>
              <a:t>Count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3154680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A5566"/>
                </a:solidFill>
              </a:defRPr>
            </a:pPr>
            <a:r>
              <a:t>Rehab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315468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A5566"/>
                </a:solidFill>
              </a:defRPr>
            </a:pPr>
            <a:r>
              <a:t>6,001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345643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A5566"/>
                </a:solidFill>
              </a:defRPr>
            </a:pPr>
            <a:r>
              <a:t>Tenant Finish Out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345643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A5566"/>
                </a:solidFill>
              </a:defRPr>
            </a:pPr>
            <a:r>
              <a:t>955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3758184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A5566"/>
                </a:solidFill>
              </a:defRPr>
            </a:pPr>
            <a:r>
              <a:t>New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0" y="3758184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A5566"/>
                </a:solidFill>
              </a:defRPr>
            </a:pPr>
            <a:r>
              <a:t>394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4059936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A5566"/>
                </a:solidFill>
              </a:defRPr>
            </a:pPr>
            <a:r>
              <a:t>Use &amp; Occupancy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4059936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A5566"/>
                </a:solidFill>
              </a:defRPr>
            </a:pPr>
            <a:r>
              <a:t>379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4361688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A5566"/>
                </a:solidFill>
              </a:defRPr>
            </a:pPr>
            <a:r>
              <a:t>Addition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436168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A5566"/>
                </a:solidFill>
              </a:defRPr>
            </a:pPr>
            <a:r>
              <a:t>221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4663440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A5566"/>
                </a:solidFill>
              </a:defRPr>
            </a:pPr>
            <a:r>
              <a:t>Commercial Rehab Storm Damage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0" y="46634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A5566"/>
                </a:solidFill>
              </a:defRPr>
            </a:pPr>
            <a:r>
              <a:t>97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496519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A5566"/>
                </a:solidFill>
              </a:defRPr>
            </a:pPr>
            <a:r>
              <a:t>Shell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496519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A5566"/>
                </a:solidFill>
              </a:defRPr>
            </a:pPr>
            <a:r>
              <a:t>96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5266944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A5566"/>
                </a:solidFill>
              </a:defRPr>
            </a:pPr>
            <a:r>
              <a:t>Foundation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5266944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A5566"/>
                </a:solidFill>
              </a:defRPr>
            </a:pPr>
            <a:r>
              <a:t>60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0" y="5843016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A5566"/>
                </a:solidFill>
              </a:defRPr>
            </a:pPr>
            <a:r>
              <a:t>Key Insights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6208776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3A5566"/>
                </a:solidFill>
              </a:defRPr>
            </a:pPr>
            <a:r>
              <a:t>  Peak activity: 2015 (539 permits), 2016 (508)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0" y="6483096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3A5566"/>
                </a:solidFill>
              </a:defRPr>
            </a:pPr>
            <a:r>
              <a:t>  Highest construction value: 2022 ($597M)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6757416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3A5566"/>
                </a:solidFill>
              </a:defRPr>
            </a:pPr>
            <a:r>
              <a:t>  Rehab permits dominate (72% of all permits)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7031736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3A5566"/>
                </a:solidFill>
              </a:defRPr>
            </a:pPr>
            <a:r>
              <a:t>  New construction: 394 permits (5% of total)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7306056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3A5566"/>
                </a:solidFill>
              </a:defRPr>
            </a:pPr>
            <a:r>
              <a:t>  Consistent ~400-500 permits/year since 2010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3A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Office Construction Value Trends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B279"/>
                </a:solidFill>
              </a:defRPr>
            </a:pPr>
            <a:r>
              <a:t>Total Construction Value by Year  |  Davidson County, Nashville, TN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097280"/>
          <a:ext cx="1124712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029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A5566"/>
                </a:solidFill>
              </a:defRPr>
            </a:pPr>
            <a:r>
              <a:t>Construction Value Highlights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486400"/>
            <a:ext cx="1737360" cy="100584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2E7D32"/>
                </a:solidFill>
              </a:defRPr>
            </a:pPr>
            <a:r>
              <a:t>$187M</a:t>
            </a:r>
          </a:p>
          <a:p>
            <a:pPr algn="ctr">
              <a:defRPr sz="1200" b="1">
                <a:solidFill>
                  <a:srgbClr val="3A5566"/>
                </a:solidFill>
              </a:defRPr>
            </a:pPr>
            <a:r>
              <a:t>2007</a:t>
            </a:r>
          </a:p>
          <a:p>
            <a:pPr algn="ctr">
              <a:defRPr sz="800">
                <a:solidFill>
                  <a:srgbClr val="706F6C"/>
                </a:solidFill>
              </a:defRPr>
            </a:pPr>
            <a:r>
              <a:t>Early boom period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5486400"/>
            <a:ext cx="1737360" cy="100584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2E7D32"/>
                </a:solidFill>
              </a:defRPr>
            </a:pPr>
            <a:r>
              <a:t>$348M</a:t>
            </a:r>
          </a:p>
          <a:p>
            <a:pPr algn="ctr">
              <a:defRPr sz="1200" b="1">
                <a:solidFill>
                  <a:srgbClr val="3A5566"/>
                </a:solidFill>
              </a:defRPr>
            </a:pPr>
            <a:r>
              <a:t>2015</a:t>
            </a:r>
          </a:p>
          <a:p>
            <a:pPr algn="ctr">
              <a:defRPr sz="800">
                <a:solidFill>
                  <a:srgbClr val="706F6C"/>
                </a:solidFill>
              </a:defRPr>
            </a:pPr>
            <a:r>
              <a:t>Post-recession surge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5486400"/>
            <a:ext cx="1737360" cy="100584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2E7D32"/>
                </a:solidFill>
              </a:defRPr>
            </a:pPr>
            <a:r>
              <a:t>$410M</a:t>
            </a:r>
          </a:p>
          <a:p>
            <a:pPr algn="ctr">
              <a:defRPr sz="1200" b="1">
                <a:solidFill>
                  <a:srgbClr val="3A5566"/>
                </a:solidFill>
              </a:defRPr>
            </a:pPr>
            <a:r>
              <a:t>2017</a:t>
            </a:r>
          </a:p>
          <a:p>
            <a:pPr algn="ctr">
              <a:defRPr sz="800">
                <a:solidFill>
                  <a:srgbClr val="706F6C"/>
                </a:solidFill>
              </a:defRPr>
            </a:pPr>
            <a:r>
              <a:t>Peak pre-COVID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5486400"/>
            <a:ext cx="1737360" cy="100584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2E7D32"/>
                </a:solidFill>
              </a:defRPr>
            </a:pPr>
            <a:r>
              <a:t>$531M</a:t>
            </a:r>
          </a:p>
          <a:p>
            <a:pPr algn="ctr">
              <a:defRPr sz="1200" b="1">
                <a:solidFill>
                  <a:srgbClr val="3A5566"/>
                </a:solidFill>
              </a:defRPr>
            </a:pPr>
            <a:r>
              <a:t>2018</a:t>
            </a:r>
          </a:p>
          <a:p>
            <a:pPr algn="ctr">
              <a:defRPr sz="800">
                <a:solidFill>
                  <a:srgbClr val="706F6C"/>
                </a:solidFill>
              </a:defRPr>
            </a:pPr>
            <a:r>
              <a:t>Record high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5486400"/>
            <a:ext cx="1737360" cy="100584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2E7D32"/>
                </a:solidFill>
              </a:defRPr>
            </a:pPr>
            <a:r>
              <a:t>$475M</a:t>
            </a:r>
          </a:p>
          <a:p>
            <a:pPr algn="ctr">
              <a:defRPr sz="1200" b="1">
                <a:solidFill>
                  <a:srgbClr val="3A5566"/>
                </a:solidFill>
              </a:defRPr>
            </a:pPr>
            <a:r>
              <a:t>2020</a:t>
            </a:r>
          </a:p>
          <a:p>
            <a:pPr algn="ctr">
              <a:defRPr sz="800">
                <a:solidFill>
                  <a:srgbClr val="706F6C"/>
                </a:solidFill>
              </a:defRPr>
            </a:pPr>
            <a:r>
              <a:t>Resilience through COVID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0" y="5486400"/>
            <a:ext cx="1737360" cy="100584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2E7D32"/>
                </a:solidFill>
              </a:defRPr>
            </a:pPr>
            <a:r>
              <a:t>$597M</a:t>
            </a:r>
          </a:p>
          <a:p>
            <a:pPr algn="ctr">
              <a:defRPr sz="1200" b="1">
                <a:solidFill>
                  <a:srgbClr val="3A5566"/>
                </a:solidFill>
              </a:defRPr>
            </a:pPr>
            <a:r>
              <a:t>2022</a:t>
            </a:r>
          </a:p>
          <a:p>
            <a:pPr algn="ctr">
              <a:defRPr sz="800">
                <a:solidFill>
                  <a:srgbClr val="706F6C"/>
                </a:solidFill>
              </a:defRPr>
            </a:pPr>
            <a:r>
              <a:t>All-time record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1244</Words>
  <Application>Microsoft Macintosh PowerPoint</Application>
  <PresentationFormat>Widescreen</PresentationFormat>
  <Paragraphs>223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Natalie Baldacci</cp:lastModifiedBy>
  <cp:revision>1</cp:revision>
  <dcterms:created xsi:type="dcterms:W3CDTF">2013-01-27T09:14:16Z</dcterms:created>
  <dcterms:modified xsi:type="dcterms:W3CDTF">2026-02-18T00:44:46Z</dcterms:modified>
  <cp:category/>
</cp:coreProperties>
</file>
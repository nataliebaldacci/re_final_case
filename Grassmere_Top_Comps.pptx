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BZA Cases by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BZA Cases</c:v>
                </c:pt>
              </c:strCache>
            </c:strRef>
          </c:tx>
          <c:spPr>
            <a:solidFill>
              <a:srgbClr val="3A5566"/>
            </a:solidFill>
          </c:spPr>
          <c:cat>
            <c:strRef>
              <c:f>Sheet1!$A$2:$A$14</c:f>
              <c:strCache>
                <c:ptCount val="13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9</c:v>
                </c:pt>
                <c:pt idx="2">
                  <c:v>16</c:v>
                </c:pt>
                <c:pt idx="3">
                  <c:v>9</c:v>
                </c:pt>
                <c:pt idx="4">
                  <c:v>16</c:v>
                </c:pt>
                <c:pt idx="5">
                  <c:v>14</c:v>
                </c:pt>
                <c:pt idx="6">
                  <c:v>15</c:v>
                </c:pt>
                <c:pt idx="7">
                  <c:v>17</c:v>
                </c:pt>
                <c:pt idx="8">
                  <c:v>15</c:v>
                </c:pt>
                <c:pt idx="9">
                  <c:v>14</c:v>
                </c:pt>
                <c:pt idx="10">
                  <c:v>10</c:v>
                </c:pt>
                <c:pt idx="11">
                  <c:v>6</c:v>
                </c:pt>
                <c:pt idx="1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Office Permits by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Permits Issued</c:v>
                </c:pt>
              </c:strCache>
            </c:strRef>
          </c:tx>
          <c:spPr>
            <a:solidFill>
              <a:srgbClr val="1565C0"/>
            </a:solidFill>
          </c:spPr>
          <c:cat>
            <c:strRef>
              <c:f>Sheet1!$A$2:$A$21</c:f>
              <c:strCache>
                <c:ptCount val="20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166</c:v>
                </c:pt>
                <c:pt idx="1">
                  <c:v>502</c:v>
                </c:pt>
                <c:pt idx="2">
                  <c:v>400</c:v>
                </c:pt>
                <c:pt idx="3">
                  <c:v>307</c:v>
                </c:pt>
                <c:pt idx="4">
                  <c:v>406</c:v>
                </c:pt>
                <c:pt idx="5">
                  <c:v>353</c:v>
                </c:pt>
                <c:pt idx="6">
                  <c:v>379</c:v>
                </c:pt>
                <c:pt idx="7">
                  <c:v>391</c:v>
                </c:pt>
                <c:pt idx="8">
                  <c:v>450</c:v>
                </c:pt>
                <c:pt idx="9">
                  <c:v>539</c:v>
                </c:pt>
                <c:pt idx="10">
                  <c:v>508</c:v>
                </c:pt>
                <c:pt idx="11">
                  <c:v>471</c:v>
                </c:pt>
                <c:pt idx="12">
                  <c:v>489</c:v>
                </c:pt>
                <c:pt idx="13">
                  <c:v>494</c:v>
                </c:pt>
                <c:pt idx="14">
                  <c:v>429</c:v>
                </c:pt>
                <c:pt idx="15">
                  <c:v>381</c:v>
                </c:pt>
                <c:pt idx="16">
                  <c:v>506</c:v>
                </c:pt>
                <c:pt idx="17">
                  <c:v>369</c:v>
                </c:pt>
                <c:pt idx="18">
                  <c:v>361</c:v>
                </c:pt>
                <c:pt idx="19">
                  <c:v>366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Annual Construction Value ($ Millions)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Construction Value ($M)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Sheet1!$A$2:$A$21</c:f>
              <c:strCache>
                <c:ptCount val="20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28.60521696</c:v>
                </c:pt>
                <c:pt idx="1">
                  <c:v>186.75023897999998</c:v>
                </c:pt>
                <c:pt idx="2">
                  <c:v>30.16160137</c:v>
                </c:pt>
                <c:pt idx="3">
                  <c:v>27.32372482</c:v>
                </c:pt>
                <c:pt idx="4">
                  <c:v>42.90492372</c:v>
                </c:pt>
                <c:pt idx="5">
                  <c:v>126.18557049</c:v>
                </c:pt>
                <c:pt idx="6">
                  <c:v>86.78543437</c:v>
                </c:pt>
                <c:pt idx="7">
                  <c:v>164.5064612</c:v>
                </c:pt>
                <c:pt idx="8">
                  <c:v>197.76109091</c:v>
                </c:pt>
                <c:pt idx="9">
                  <c:v>347.60499228</c:v>
                </c:pt>
                <c:pt idx="10">
                  <c:v>341.49302592000004</c:v>
                </c:pt>
                <c:pt idx="11">
                  <c:v>410.41803824</c:v>
                </c:pt>
                <c:pt idx="12">
                  <c:v>531.0691792599999</c:v>
                </c:pt>
                <c:pt idx="13">
                  <c:v>445.02231673</c:v>
                </c:pt>
                <c:pt idx="14">
                  <c:v>474.50201591</c:v>
                </c:pt>
                <c:pt idx="15">
                  <c:v>185.26705004</c:v>
                </c:pt>
                <c:pt idx="16">
                  <c:v>597.25151863</c:v>
                </c:pt>
                <c:pt idx="17">
                  <c:v>332.03112558</c:v>
                </c:pt>
                <c:pt idx="18">
                  <c:v>233.15263121</c:v>
                </c:pt>
                <c:pt idx="19">
                  <c:v>380.02140068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3A5566"/>
                </a:solidFill>
              </a:defRPr>
            </a:pPr>
            <a:r>
              <a:t>Annual Office Sales Volume ($ Millions)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 ($M)</c:v>
                </c:pt>
              </c:strCache>
            </c:strRef>
          </c:tx>
          <c:spPr>
            <a:solidFill>
              <a:srgbClr val="1565C0"/>
            </a:solidFill>
          </c:spPr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1719.041967</c:v>
                </c:pt>
                <c:pt idx="1">
                  <c:v>427.500536</c:v>
                </c:pt>
                <c:pt idx="2">
                  <c:v>448.725879</c:v>
                </c:pt>
                <c:pt idx="3">
                  <c:v>278.549138</c:v>
                </c:pt>
                <c:pt idx="4">
                  <c:v>59.766416</c:v>
                </c:pt>
                <c:pt idx="5">
                  <c:v>34.578051</c:v>
                </c:pt>
                <c:pt idx="6">
                  <c:v>168.341559</c:v>
                </c:pt>
                <c:pt idx="7">
                  <c:v>323.647609</c:v>
                </c:pt>
                <c:pt idx="8">
                  <c:v>414.266256</c:v>
                </c:pt>
                <c:pt idx="9">
                  <c:v>551.418646</c:v>
                </c:pt>
                <c:pt idx="10">
                  <c:v>598.347158</c:v>
                </c:pt>
                <c:pt idx="11">
                  <c:v>578.151817</c:v>
                </c:pt>
                <c:pt idx="12">
                  <c:v>800.182179</c:v>
                </c:pt>
                <c:pt idx="13">
                  <c:v>925.375483</c:v>
                </c:pt>
                <c:pt idx="14">
                  <c:v>1128.972997</c:v>
                </c:pt>
                <c:pt idx="15">
                  <c:v>739.646482</c:v>
                </c:pt>
                <c:pt idx="16">
                  <c:v>959.803533</c:v>
                </c:pt>
                <c:pt idx="17">
                  <c:v>1564.151389</c:v>
                </c:pt>
                <c:pt idx="18">
                  <c:v>378.53783</c:v>
                </c:pt>
                <c:pt idx="19">
                  <c:v>310.846915</c:v>
                </c:pt>
                <c:pt idx="20">
                  <c:v>1170.263244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A5566"/>
                </a:solidFill>
              </a:defRPr>
            </a:pPr>
            <a:r>
              <a:t>Number of Office Sales by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Count</c:v>
                </c:pt>
              </c:strCache>
            </c:strRef>
          </c:tx>
          <c:spPr>
            <a:solidFill>
              <a:srgbClr val="3A5566"/>
            </a:solidFill>
          </c:spPr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196</c:v>
                </c:pt>
                <c:pt idx="1">
                  <c:v>200</c:v>
                </c:pt>
                <c:pt idx="2">
                  <c:v>179</c:v>
                </c:pt>
                <c:pt idx="3">
                  <c:v>132</c:v>
                </c:pt>
                <c:pt idx="4">
                  <c:v>80</c:v>
                </c:pt>
                <c:pt idx="5">
                  <c:v>67</c:v>
                </c:pt>
                <c:pt idx="6">
                  <c:v>80</c:v>
                </c:pt>
                <c:pt idx="7">
                  <c:v>129</c:v>
                </c:pt>
                <c:pt idx="8">
                  <c:v>133</c:v>
                </c:pt>
                <c:pt idx="9">
                  <c:v>164</c:v>
                </c:pt>
                <c:pt idx="10">
                  <c:v>192</c:v>
                </c:pt>
                <c:pt idx="11">
                  <c:v>165</c:v>
                </c:pt>
                <c:pt idx="12">
                  <c:v>168</c:v>
                </c:pt>
                <c:pt idx="13">
                  <c:v>150</c:v>
                </c:pt>
                <c:pt idx="14">
                  <c:v>142</c:v>
                </c:pt>
                <c:pt idx="15">
                  <c:v>119</c:v>
                </c:pt>
                <c:pt idx="16">
                  <c:v>157</c:v>
                </c:pt>
                <c:pt idx="17">
                  <c:v>112</c:v>
                </c:pt>
                <c:pt idx="18">
                  <c:v>98</c:v>
                </c:pt>
                <c:pt idx="19">
                  <c:v>81</c:v>
                </c:pt>
                <c:pt idx="20">
                  <c:v>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A5566"/>
                </a:solidFill>
              </a:defRPr>
            </a:pPr>
            <a:r>
              <a:t>Median Price Per SF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$/SF</c:v>
                </c:pt>
              </c:strCache>
            </c:strRef>
          </c:tx>
          <c:spPr>
            <a:ln w="38100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77.6</c:v>
                </c:pt>
                <c:pt idx="1">
                  <c:v>82.76</c:v>
                </c:pt>
                <c:pt idx="2">
                  <c:v>99.45</c:v>
                </c:pt>
                <c:pt idx="3">
                  <c:v>88.86</c:v>
                </c:pt>
                <c:pt idx="4">
                  <c:v>87.21000000000001</c:v>
                </c:pt>
                <c:pt idx="5">
                  <c:v>86.59</c:v>
                </c:pt>
                <c:pt idx="6">
                  <c:v>77.25999999999999</c:v>
                </c:pt>
                <c:pt idx="7">
                  <c:v>75.83</c:v>
                </c:pt>
                <c:pt idx="8">
                  <c:v>110.86</c:v>
                </c:pt>
                <c:pt idx="9">
                  <c:v>98.96</c:v>
                </c:pt>
                <c:pt idx="10">
                  <c:v>136.34</c:v>
                </c:pt>
                <c:pt idx="11">
                  <c:v>146.70999999999998</c:v>
                </c:pt>
                <c:pt idx="12">
                  <c:v>181.62</c:v>
                </c:pt>
                <c:pt idx="13">
                  <c:v>177.815</c:v>
                </c:pt>
                <c:pt idx="14">
                  <c:v>221.57</c:v>
                </c:pt>
                <c:pt idx="15">
                  <c:v>216.82</c:v>
                </c:pt>
                <c:pt idx="16">
                  <c:v>321.75</c:v>
                </c:pt>
                <c:pt idx="17">
                  <c:v>394.265</c:v>
                </c:pt>
                <c:pt idx="18">
                  <c:v>385.93</c:v>
                </c:pt>
                <c:pt idx="19">
                  <c:v>335.44</c:v>
                </c:pt>
                <c:pt idx="20">
                  <c:v>322.30499999999995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648 Grassmere Park — Comparable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B279"/>
                </a:solidFill>
              </a:defRPr>
            </a:pPr>
            <a:r>
              <a:t>Subject Property  |  Nashville, Davidson County, TN</a:t>
            </a:r>
          </a:p>
        </p:txBody>
      </p:sp>
      <p:pic>
        <p:nvPicPr>
          <p:cNvPr id="5" name="Picture 4" descr="rank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pic>
        <p:nvPicPr>
          <p:cNvPr id="6" name="Picture 5" descr="rank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2004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$25.9M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Sale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$115.69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Per SF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23.49 ac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Lot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53159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1985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Year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648 Grassmere Park, Nashville, TN 37211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Sale Price: $25,938,000  |  Price/SF: $115.69  |  Sold: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Year Built: 1985  |  Acreage: 23.49 ac  |  Stories: 3  |  Zoning: IWD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31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Land Use: Office Building (3+ Stories)  |  Comp Score: 100/100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Stories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IWD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Zoning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100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Comparable Sales Map — Davidson County, Nashville, 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B279"/>
                </a:solidFill>
              </a:defRPr>
            </a:pPr>
            <a:r>
              <a:t>648 Grassmere Park  |  20 Comparable Properties  |  Interactive Map: nataliebaldacci.github.io/RE_Final_Case</a:t>
            </a:r>
          </a:p>
        </p:txBody>
      </p:sp>
      <p:pic>
        <p:nvPicPr>
          <p:cNvPr id="5" name="Picture 4" descr="ma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1 — Best Comparables — #1, #2,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90-95/100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636 Grassmere 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95/100</a:t>
            </a:r>
          </a:p>
        </p:txBody>
      </p:sp>
      <p:pic>
        <p:nvPicPr>
          <p:cNvPr id="9" name="Picture 8" descr="rank1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$15,000,000  (2022)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$236.32/SF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6.02 ac  |  1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63,474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200 Athens 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93/100</a:t>
            </a:r>
          </a:p>
        </p:txBody>
      </p:sp>
      <p:pic>
        <p:nvPicPr>
          <p:cNvPr id="19" name="Picture 18" descr="rank2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2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$36,000,000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$146.25/SF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8.70 ac  |  8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210 Athens 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90/100</a:t>
            </a:r>
          </a:p>
        </p:txBody>
      </p:sp>
      <p:pic>
        <p:nvPicPr>
          <p:cNvPr id="29" name="Picture 28" descr="rank3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3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$32,250,000  (2022)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$203.39/SF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10.01 ac  |  5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MUG-NS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1 — Best Comparables — #4, #5, 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85-89/100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227 French Landing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89/100</a:t>
            </a:r>
          </a:p>
        </p:txBody>
      </p:sp>
      <p:pic>
        <p:nvPicPr>
          <p:cNvPr id="9" name="Picture 8" descr="rank4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4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$22,350,000 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$201.50/SF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4.93 ac  |  5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501 Great Circle 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88/100</a:t>
            </a:r>
          </a:p>
        </p:txBody>
      </p:sp>
      <p:pic>
        <p:nvPicPr>
          <p:cNvPr id="19" name="Picture 18" descr="rank5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5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$18,000,000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$143.08/SF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6.22 ac  |  3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71,916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215 Cumberland Bnd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85/100</a:t>
            </a:r>
          </a:p>
        </p:txBody>
      </p:sp>
      <p:pic>
        <p:nvPicPr>
          <p:cNvPr id="29" name="Picture 28" descr="rank6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6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$10,850,000  (2020)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$107.29/SF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1980  |  8.20 ac  |  2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#7, #8, 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80-82/100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545 Marriott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82/100</a:t>
            </a:r>
          </a:p>
        </p:txBody>
      </p:sp>
      <p:pic>
        <p:nvPicPr>
          <p:cNvPr id="9" name="Picture 8" descr="rank7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7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$85,500,000 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$324.59/SF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8.60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621 Mainstream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80/100</a:t>
            </a:r>
          </a:p>
        </p:txBody>
      </p:sp>
      <p:pic>
        <p:nvPicPr>
          <p:cNvPr id="19" name="Picture 18" descr="rank8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8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$16,150,000 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$305.19/SF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7.18 ac  |  1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52,917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601 Mainstream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80/100</a:t>
            </a:r>
          </a:p>
        </p:txBody>
      </p:sp>
      <p:pic>
        <p:nvPicPr>
          <p:cNvPr id="29" name="Picture 28" descr="rank9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9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$13,100,000 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$247.56/SF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7.18 ac  |  1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52,917 SF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#10, #11, 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76-78/100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616 Marriott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78/100</a:t>
            </a:r>
          </a:p>
        </p:txBody>
      </p:sp>
      <p:pic>
        <p:nvPicPr>
          <p:cNvPr id="9" name="Picture 8" descr="rank1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$13,030,000 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$155.66/SF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3.74 ac  |  6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83,708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25 Century Blvd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77/100</a:t>
            </a:r>
          </a:p>
        </p:txBody>
      </p:sp>
      <p:pic>
        <p:nvPicPr>
          <p:cNvPr id="19" name="Picture 18" descr="rank11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1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$30,000,000 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$228.93/SF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6.85 ac  |  6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 Burton Hills Blvd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76/100</a:t>
            </a:r>
          </a:p>
        </p:txBody>
      </p:sp>
      <p:pic>
        <p:nvPicPr>
          <p:cNvPr id="29" name="Picture 28" descr="rank12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2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$12,000,000 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$98.39/SF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7.07 ac  |  3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SP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75-75/100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104 Woodmont Blvd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75/100</a:t>
            </a:r>
          </a:p>
        </p:txBody>
      </p:sp>
      <p:pic>
        <p:nvPicPr>
          <p:cNvPr id="9" name="Picture 8" descr="rank13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0911535" cy="1920240"/>
          </a:xfrm>
          <a:prstGeom prst="rect">
            <a:avLst/>
          </a:prstGeom>
        </p:spPr>
      </p:pic>
      <p:pic>
        <p:nvPicPr>
          <p:cNvPr id="10" name="Picture 9" descr="rank13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10911535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$50,970,857 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$140.77/SF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2.40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OR20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#14, #15, 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68-72/100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1321 Murfreesboro Pike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72/100</a:t>
            </a:r>
          </a:p>
        </p:txBody>
      </p:sp>
      <p:pic>
        <p:nvPicPr>
          <p:cNvPr id="9" name="Picture 8" descr="rank14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4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$18,500,000 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$97.45/SF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1987  |  5.30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CL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5880 Nolensville Pike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70/100</a:t>
            </a:r>
          </a:p>
        </p:txBody>
      </p:sp>
      <p:pic>
        <p:nvPicPr>
          <p:cNvPr id="19" name="Picture 18" descr="rank15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5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$17,000,000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$184.04/SF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1989  |  13.80 ac  |  2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R10  |  Office (1-2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92,370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490 Metroplex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68/100</a:t>
            </a:r>
          </a:p>
        </p:txBody>
      </p:sp>
      <p:pic>
        <p:nvPicPr>
          <p:cNvPr id="29" name="Picture 28" descr="rank16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6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$11,000,000 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$129.99/SF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4.68 ac  |  2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CS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84,620 SF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#17, #18, 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60-65/100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750 Old Hickory Blvd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65/100</a:t>
            </a:r>
          </a:p>
        </p:txBody>
      </p:sp>
      <p:pic>
        <p:nvPicPr>
          <p:cNvPr id="9" name="Picture 8" descr="rank17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7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$88,300,000 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$102.42/SF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1983  |  14.50 ac  |  2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OL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99,550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100 Centerview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63/100</a:t>
            </a:r>
          </a:p>
        </p:txBody>
      </p:sp>
      <p:pic>
        <p:nvPicPr>
          <p:cNvPr id="19" name="Picture 18" descr="rank18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8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$19,500,000 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$78.45/SF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25.36 ac  |  3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OL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1000 Northchase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60/100</a:t>
            </a:r>
          </a:p>
        </p:txBody>
      </p:sp>
      <p:pic>
        <p:nvPicPr>
          <p:cNvPr id="29" name="Picture 28" descr="rank19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9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$8,350,000  (2026)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$152.30/SF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1988  |  3.18 ac  |  3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6ZZ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54,826 SF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58-58/100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3343 Perimeter Hill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58/100</a:t>
            </a:r>
          </a:p>
        </p:txBody>
      </p:sp>
      <p:pic>
        <p:nvPicPr>
          <p:cNvPr id="9" name="Picture 8" descr="rank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0911535" cy="1920240"/>
          </a:xfrm>
          <a:prstGeom prst="rect">
            <a:avLst/>
          </a:prstGeom>
        </p:spPr>
      </p:pic>
      <p:pic>
        <p:nvPicPr>
          <p:cNvPr id="10" name="Picture 9" descr="rank2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10911535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$5,254,600 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$71.64/SF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3.58 ac  |  3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CS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73,352 SF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5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Comparable 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B279"/>
                </a:solidFill>
              </a:defRPr>
            </a:pPr>
            <a:r>
              <a:t>648 Grassmere Park  |  20 Comparable Properties  |  Davidson County, 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Price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Avg $/SF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Score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9601200" cy="27432"/>
          </a:xfrm>
          <a:prstGeom prst="rect">
            <a:avLst/>
          </a:prstGeom>
          <a:solidFill>
            <a:srgbClr val="CBB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$25,938,000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$115.69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100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82880" cy="1828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1 —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$10.9M - $36.0M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$107 - $236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85-95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3383279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2918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2 — 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$12.0M - $85.5M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91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$98 - $325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91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75-82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3886199"/>
            <a:ext cx="182880" cy="1828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3 — Supporting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7947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$5.3M - $88.3M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$72 - $184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58-72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Board of Zoning Appeals — Case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Davidson County, Nashville, TN  |  325 Total Cases (2006-2018)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325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BZA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223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Expired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70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06F6C"/>
                </a:solidFill>
              </a:defRPr>
            </a:pPr>
            <a:r>
              <a:t>24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Withdrawn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Approved to 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1051560"/>
            <a:ext cx="13716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565C0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Granted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237744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Top Case Subtypes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Case Subtype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Religious Institution,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154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Day Care Home, Single F...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456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581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Zoning Appeal...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059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Kennel / Stable, Kennel...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0599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61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Day Care Center (Up To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Master Permit Applicati...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6634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965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Religious Institution,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266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Multifamily, Condominiu...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52669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843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Status 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2087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EXPIRED: 223 (69%)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64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Done: 70 (22%)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720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Withdrawn: 24 (7%)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9768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OK to Pay Permit Fee: 5 (2%)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72329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Cancelled: 1 (0%)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74889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Payment was refunded/permit cancelled: 1 (0%)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77449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GRANTED: 1 (0%)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Office Building Permit History — Davidson County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General Office, Professional Services  |  8,291 Total Permits (2006-2025)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8,291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Permits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$5.17B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Const.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$894K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Avg Const.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565C0"/>
                </a:solidFill>
              </a:defRPr>
            </a:pPr>
            <a:r>
              <a:t>6,475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Completed (78%)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1,447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Expired (17%)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237744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Permit Type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546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Rehab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3154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6,001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564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Tenant Finish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3456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394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599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Use &amp; Occupancy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4059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616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Addition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221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Commercial Rehab Storm Damage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663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651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4965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669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5266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843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Key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2087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Peak activity: 2015 (539 permits), 2016 (508)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83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Highest construction value: 2022 ($597M)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7574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Rehab permits dominate (72% of all permits)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70317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New construction: 394 permits (5% of total)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73060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Consistent ~400-500 permits/year since 2010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Office Construction Value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Total Construction Value by Year  |  Davidson County, Nashville, TN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5566"/>
                </a:solidFill>
              </a:defRPr>
            </a:pPr>
            <a:r>
              <a:t>Construction Value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$187M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2007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Early boom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$348M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2015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Post-recession surge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$410M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2017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Peak pre-COVID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$531M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2018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Record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$475M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2020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Resilience through COVID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$597M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2022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All-time record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Nashville Office Sales — 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Davidson County  |  14,841 Office Properties  |  8,207 Recorded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92024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14,841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Office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051560"/>
            <a:ext cx="192024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8,207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Recorded 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51560"/>
            <a:ext cx="192024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$17.8B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Total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051560"/>
            <a:ext cx="192024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$2.2M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Avg Sale 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051560"/>
            <a:ext cx="192024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$240K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Median Sale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1320" y="1051560"/>
            <a:ext cx="13716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2,020</a:t>
            </a:r>
          </a:p>
          <a:p>
            <a:pPr algn="ctr">
              <a:defRPr sz="900">
                <a:solidFill>
                  <a:srgbClr val="706F6C"/>
                </a:solidFill>
              </a:defRPr>
            </a:pPr>
            <a:r>
              <a:t>Total Buildings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2377440"/>
          <a:ext cx="71323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Sales by Office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34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Avg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834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Median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54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Office (1-2 Story)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1546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A5566"/>
                </a:solidFill>
              </a:defRPr>
            </a:pPr>
            <a:r>
              <a:t>6,210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54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$1.1M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154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$190K 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474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Office (3+ Story)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A5566"/>
                </a:solidFill>
              </a:defRPr>
            </a:pPr>
            <a:r>
              <a:t>836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474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$11.3M avg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474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$2.3M 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94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Medical (1-2 Story)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7947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A5566"/>
                </a:solidFill>
              </a:defRPr>
            </a:pPr>
            <a:r>
              <a:t>1,054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7947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$933K avg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37947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$253K 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1148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Medical (3+ Story)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1148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A5566"/>
                </a:solidFill>
              </a:defRPr>
            </a:pPr>
            <a:r>
              <a:t>107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114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$2.2M avg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4114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$214K 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5566"/>
                </a:solidFill>
              </a:defRPr>
            </a:pPr>
            <a:r>
              <a:t>648 Grassmere Park — Market Position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6635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Overall Market Rank: #84 of 2,020 buildings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42239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95.8th percentile by appraised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67842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3+ Story Office Rank: #63 of 213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9344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IWD Zone Rank: #4 of 153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619048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Sale Price: $25.9M (2015) at $115.69/SF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64465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Total Appraised: $37.4M (current)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Office Sales Price Trends — $/SF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Davidson County  |  Median &amp; Average Price Per Square Foot  |  2005-2025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05840"/>
          <a:ext cx="566928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3749039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Office Sales Data by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Total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Avg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6F6C"/>
                </a:solidFill>
              </a:defRPr>
            </a:pPr>
            <a:r>
              <a:t>Med $/SF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9164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9164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$1719M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9164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$8.8M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169164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4767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4767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$279M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4767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$2.1M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194767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0370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20370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20370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20370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$0.5M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20370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45973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45973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$414M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45973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45973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$111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1576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71576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1576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$598M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71576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$3.1M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71576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$136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97180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97180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97180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$800M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97180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$4.8M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297180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$182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22783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22783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22783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$925M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22783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$6.2M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322783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$178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4838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4838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142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34838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$1129M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4838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$8.0M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34838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$222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73989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73989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73989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$740M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373989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$6.2M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373989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$217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99592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399592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157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399592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$960M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99592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$6.1M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399592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25196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2022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425196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112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25196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$1564M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425196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$14.0M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25196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$394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50799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450799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98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450799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$379M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450799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$3.9M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450799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$386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476402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476402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81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476402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$311M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476402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$3.8M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07040" y="476402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$335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502005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2025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02005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87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502005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$1170M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502005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$13.5M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502005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$322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458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5566"/>
                </a:solidFill>
              </a:defRPr>
            </a:pPr>
            <a:r>
              <a:t>Key Takeaways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573328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Median $/SF grew 4x from $78/SF (2005) to $322/SF (2025)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59801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Peak transaction volume: $1.56B in 2022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622706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2019 was the high-water mark for avg price ($7.95M)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647395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Post-COVID recovery strong: 2021-2022 saw record values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67208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Transaction count declined from 200/yr to ~90/yr (flight to quality)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696772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648 Grassmere at $115.69/SF sold below 2015 median of $136/SF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1244</Words>
  <Application>Microsoft Macintosh PowerPoint</Application>
  <PresentationFormat>Widescreen</PresentationFormat>
  <Paragraphs>223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Natalie Baldacci</cp:lastModifiedBy>
  <cp:revision>1</cp:revision>
  <dcterms:created xsi:type="dcterms:W3CDTF">2013-01-27T09:14:16Z</dcterms:created>
  <dcterms:modified xsi:type="dcterms:W3CDTF">2026-02-18T00:44:46Z</dcterms:modified>
  <cp:category/>
</cp:coreProperties>
</file>